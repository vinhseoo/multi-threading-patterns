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TRANG TIÊU ĐỀ BÁO CÁO
Kính chào Thầy và Hội đồng. Hôm nay em xin phép được trình bày Báo cáo bảo vệ môn học Lập trình mạng với đề tài: "Multi-Threading Patterns in Network Programming". Đề tài do em Mai Đức Vinh độc lập thực hiện 100% từ con số 0 dưới sự hướng dẫn của TS. Đặng Ngọc Hùng.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18]
TIÊU ĐỀ: Thách Thức C10K: Ranh Giới Giữa I/O-Bound &amp; CPU-Bound
TRỌNG TÂM: Bản chất của các ứng dụng mạng hiện đại và lý do kiến trúc đơn luồng sụp đổ
KẾT LUẬN CỐT LÕI:
💡 KẾT LUẬN KIẾN TRÚC: Hệ thống máy chủ mạng hiện đại phải tối ưu hóa triệt để cho tác vụ I/O-Bound (hơn 95% thời gian chờ mạng) thay vì tăng số lượng luồng vô tội vạ!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18]
TIÊU ĐỀ: Bản Chất Tầng Thấp Của Luồng Hệ Điều Hành (OS Thread)
TRỌNG TÂM: Sự chênh lệch khổng lồ giữa tài nguyên của luồng hệ thống và một tác vụ mạng nhỏ
KẾT LUẬN CỐT LÕI:
🏢 BÀI HỌC CỐT LÕI: Luồng hệ điều hành được thiết kế như những công nhân hạng nặng (Heavyweight), hoàn toàn không phù hợp để ánh xạ trực tiếp 1-1 với các kết nối mạng siêu nhẹ!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18]
TIÊU ĐỀ: Hiểm Họa Chuyển Ngữ Cảnh (Context Switching)
TRỌNG TÂM: Vòng xoay lãng phí năng lượng khi thời gian tráo đổi luồng vượt qua thời gian làm việc
KẾT LUẬN CỐT LÕI:
🎯 BẢN CHẤT KỸ THUẬT: Đừng bao giờ nhầm lẫn giữa "nhiều luồng" và "chạy nhanh". Số luồng vượt quá năng lực phần cứng chỉ tạo ra vòng xoáy lãng phí năng lượng vô ích!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18]
TIÊU ĐỀ: Mode 1: Mô Hình Đơn Luồng Xử Lý Tuần Tự
TRỌNG TÂM: Nguyên lý "Một người phục vụ tất cả" và hiện tượng nghẽn mạng dây chuyền
KẾT LUẬN CỐT LÕI:
💡 BÀI HỌC THIẾT KẾ: Mô hình tuần tự thất bại không phải vì thiếu CPU, mà vì thời gian chờ I/O mạng của người trước biến thành thời gian chờ đợi của người sau!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18]
TIÊU ĐỀ: Mode 2: Mỗi Kết Nối Một Luồng Riêng Biệt
TRỌNG TÂM: Ý tưởng giải phóng phục vụ song song và cái bẫy bùng nổ tài nguyên
KẾT LUẬN CỐT LÕI:
⚠️ KẾT LUẬN THIẾT KẾ: Mode 2 đánh đổi sự an toàn của cả hệ điều hành để đổi lấy sự tiện lợi nhất thời. Hệ thống sẽ sụp đổ ngay khi có đợt traffic spike!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18]
TIÊU ĐỀ: Mode 3: Đội Ngũ Nhân Viên Cố Định &amp; Hàng Ghế Chờ
TRỌNG TÂM: Mẫu thiết kế chuẩn doanh nghiệp giúp kiểm soát tài nguyên an toàn tuyệt đối
KẾT LUẬN CỐT LÕI:
🏢 BÀI HỌC VẬN HÀNH: Thread Pool là lá chắn phòng thủ số 1 của mọi kiến trúc máy chủ mạng. Nó tách rời số lượng khách kết nối ra khỏi số lượng luồng vật lý!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18]
TIÊU ĐỀ: Cơ Chế Hàng Ghế Chờ Giới Hạn &amp; Van Xả An Toàn
TRỌNG TÂM: Bảo vệ máy chủ không bao giờ bị Crash khi đối mặt với các đợt bắn tải đột biến
KẾT LUẬN CỐT LÕI:
🛡️ TRIẾT LÝ BACKPRESSURE: Từ chối nhanh (Fail-Fast) một số yêu cầu văn minh hơn nhiều so với việc nhận bừa để rồi sập toàn bộ hệ thống!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18]
TIÊU ĐỀ: Mode 5: Tự Thiết Kế Thread Pool Từ Con Số 0
TRỌNG TÂM: Điểm sáng kỹ thuật: Tự lập trình trọn vẹn giải thuật và cơ chế điều phối không dùng thư viện có sẵn
KẾT LUẬN CỐT LÕI:
⚙️ ĐIỂM SÁNG 30%: Việc tự cài đặt thành công Thread Pool chứng minh sinh viên hiểu sâu sắc cơ chế điều phối luồng ở tầng gốc rễ chứ không chỉ biết gọi thư viện có sẵn!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18]
TIÊU ĐỀ: Mode 4: Đỉnh Cao Java 21 Virtual Threads (Project Loom)
TRỌNG TÂM: Cơ chế "Bàn làm việc dùng chung" — Cuộc cách mạng giải phóng hiệu năng mạng
KẾT LUẬN CỐT LÕI:
🚀 TƯƠNG LAI CÔNG NGHỆ: Virtual Threads chính thức xóa bỏ cuộc giằng co kéo dài 20 năm giữa "Code dễ đọc (Blocking)" và "Hiệu năng cao (Non-blocking/Reactive)"!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18]
TIÊU ĐỀ: Hạ Tầng Đo Lường Không Khóa &amp; Web Dashboard
TRỌNG TÂM: Giám sát số liệu trực quan theo thời gian thực với chi phí suy hao phần cứng bằng 0
KẾT LUẬN CỐT LÕI:
🖥️ GIẢI PHÁP ĐO ĐẠC: Hệ thống giám sát được xây dựng hoàn toàn bằng Vanilla JS + Canvas + Server-Sent Events/REST, vận hành tự chủ 100% không cần cài đặt thêm phần mềm giám sát ngoài!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TỔNG QUAN 5 MÔ HÌNH LUỒNG ĐỐI ĐẦU
Đây là bản đồ kiến trúc toàn diện của đề tài T45. Chúng ta sẽ cùng kiểm chứng 5 mô hình luồng đối đầu trực tiếp: từ Mode 1 tuần tự, Mode 2 tạo luồng bừa bãi, Mode 3 Thread Pool doanh nghiệp, Mode 5 tự sáng chế giải thuật mảng vòng O(1), cho đến Mode 4 Java 21 Virtual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BẢNG ĐỐI SÁNH LÝ THUYẾT 5 KIẾN TRÚC
Bảng đối sánh tổng hợp chi tiết 5 mô hình luồng. Điểm nhấn lớn nhất là Virtual Threads giúp giải quyết bài toán C10K mà không cần hy sinh phong cách lập trình đơn giản, dễ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KỊCH BẢN LIVE DEMO
Đây là kịch bản 6 bước phân cảnh chứng minh trực quan. Thầy và Hội đồng có thể quan sát trực tiếp trên giao diện Dashboard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THÔNG LƯỢNG THỰC NGHIỆM
Kết quả đo đạc định lượng thực tế: Virtual Threads đạt 1,145.2 RPS, Mode 2 đạt 285 RPS nhưng bùng nổ RAM, Mode 3 và Mode 5 bám sát nhau ở 150 RPS.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PHÂN TÍCH PHÂN VỊ ĐỘ TRỄ
Phân tích phân vị độ trễ P50, P95, P99. Điểm ăn tiền của Virtual Threads là đường P99 rất phẳng (128ms), đem lại trải nghiệm mượt mà nhất quán cho người dùng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KẾT LUẬN &amp; ĐÓNG GÓP
Tổng kết 3 trụ cột thành quả lớn nhất của đề tài: 1) Nắm vững tầng thấp, 2) Tự chủ sáng tạo giải thuật 30%, và 3) Hiện đại hóa kiến trúc đón đầu công nghệ.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KẾT THÚC BÁO CÁO
Em xin kết thúc bài báo cáo tại đây. Kính chúc Thầy nhiều sức khỏe. Em xin sẵn sàng lắng nghe các câu hỏi nhận xét và phản biện từ Thầy!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432304" y="731520"/>
            <a:ext cx="7315200" cy="347472"/>
          </a:xfrm>
          <a:prstGeom prst="roundRect">
            <a:avLst>
              <a:gd name="adj" fmla="val 31579"/>
            </a:avLst>
          </a:prstGeom>
          <a:solidFill>
            <a:srgbClr val="EFF6FF"/>
          </a:solidFill>
          <a:ln w="19050">
            <a:solidFill>
              <a:srgbClr val="BFDBFE"/>
            </a:solidFill>
            <a:prstDash val="solid"/>
          </a:ln>
        </p:spPr>
      </p:sp>
      <p:sp>
        <p:nvSpPr>
          <p:cNvPr id="3" name="Text 1"/>
          <p:cNvSpPr/>
          <p:nvPr/>
        </p:nvSpPr>
        <p:spPr>
          <a:xfrm>
            <a:off x="2432304" y="731520"/>
            <a:ext cx="7315200" cy="34747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ĐỀ TÀI T45 • BÁO CÁO BẢO VỆ MÔN HỌC LẬP TRÌNH MẠNG</a:t>
            </a:r>
            <a:endParaRPr lang="en-US" sz="1100" dirty="0"/>
          </a:p>
        </p:txBody>
      </p:sp>
      <p:sp>
        <p:nvSpPr>
          <p:cNvPr id="4" name="Text 2"/>
          <p:cNvSpPr/>
          <p:nvPr/>
        </p:nvSpPr>
        <p:spPr>
          <a:xfrm>
            <a:off x="1097280" y="1234440"/>
            <a:ext cx="9994392" cy="1371600"/>
          </a:xfrm>
          <a:prstGeom prst="rect">
            <a:avLst/>
          </a:prstGeom>
          <a:noFill/>
          <a:ln/>
        </p:spPr>
        <p:txBody>
          <a:bodyPr wrap="square" rtlCol="0" anchor="ctr"/>
          <a:lstStyle/>
          <a:p>
            <a:pPr algn="ctr" indent="0" marL="0">
              <a:buNone/>
            </a:pPr>
            <a:r>
              <a:rPr lang="en-US" sz="3400" b="1" dirty="0">
                <a:solidFill>
                  <a:srgbClr val="0F172A"/>
                </a:solidFill>
              </a:rPr>
              <a:t>MULTI-THREADING PATTERNS
</a:t>
            </a:r>
            <a:pPr algn="ctr" indent="0" marL="0">
              <a:buNone/>
            </a:pPr>
            <a:r>
              <a:rPr lang="en-US" sz="3400" b="1" dirty="0">
                <a:solidFill>
                  <a:srgbClr val="1D4ED8"/>
                </a:solidFill>
              </a:rPr>
              <a:t>IN NETWORK PROGRAMMING</a:t>
            </a:r>
            <a:endParaRPr lang="en-US" sz="3400" dirty="0"/>
          </a:p>
        </p:txBody>
      </p:sp>
      <p:sp>
        <p:nvSpPr>
          <p:cNvPr id="5" name="Text 3"/>
          <p:cNvSpPr/>
          <p:nvPr/>
        </p:nvSpPr>
        <p:spPr>
          <a:xfrm>
            <a:off x="1645920" y="2651760"/>
            <a:ext cx="8897112" cy="640080"/>
          </a:xfrm>
          <a:prstGeom prst="rect">
            <a:avLst/>
          </a:prstGeom>
          <a:noFill/>
          <a:ln/>
        </p:spPr>
        <p:txBody>
          <a:bodyPr wrap="square" rtlCol="0" anchor="t"/>
          <a:lstStyle/>
          <a:p>
            <a:pPr algn="ctr" indent="0" marL="0">
              <a:buNone/>
            </a:pPr>
            <a:r>
              <a:rPr lang="en-US" sz="1300" b="1" dirty="0">
                <a:solidFill>
                  <a:srgbClr val="334155"/>
                </a:solidFill>
                <a:latin typeface="Arial" pitchFamily="34" charset="0"/>
                <a:ea typeface="Arial" pitchFamily="34" charset="-122"/>
                <a:cs typeface="Arial" pitchFamily="34" charset="-120"/>
              </a:rPr>
              <a:t>Nghiên cứu, cài đặt từ con số 0 và đánh giá thực nghiệm 5 mô hình kiến trúc luồng đối đầu trong lập trình ứng dụng máy chủ mạng với Java 21 Virtual Threads (Project Loom).</a:t>
            </a:r>
            <a:endParaRPr lang="en-US" sz="1300" dirty="0"/>
          </a:p>
        </p:txBody>
      </p:sp>
      <p:sp>
        <p:nvSpPr>
          <p:cNvPr id="6" name="Shape 4"/>
          <p:cNvSpPr/>
          <p:nvPr/>
        </p:nvSpPr>
        <p:spPr>
          <a:xfrm>
            <a:off x="548640" y="3566160"/>
            <a:ext cx="3474720" cy="1463040"/>
          </a:xfrm>
          <a:prstGeom prst="roundRect">
            <a:avLst>
              <a:gd name="adj" fmla="val 6250"/>
            </a:avLst>
          </a:prstGeom>
          <a:solidFill>
            <a:srgbClr val="F8FAFC"/>
          </a:solidFill>
          <a:ln w="19050">
            <a:solidFill>
              <a:srgbClr val="CBD5E1"/>
            </a:solidFill>
            <a:prstDash val="solid"/>
          </a:ln>
        </p:spPr>
      </p:sp>
      <p:sp>
        <p:nvSpPr>
          <p:cNvPr id="7" name="Text 5"/>
          <p:cNvSpPr/>
          <p:nvPr/>
        </p:nvSpPr>
        <p:spPr>
          <a:xfrm>
            <a:off x="731520" y="3703320"/>
            <a:ext cx="3108960" cy="1188720"/>
          </a:xfrm>
          <a:prstGeom prst="rect">
            <a:avLst/>
          </a:prstGeom>
          <a:noFill/>
          <a:ln/>
        </p:spPr>
        <p:txBody>
          <a:bodyPr wrap="square" rtlCol="0" anchor="ctr"/>
          <a:lstStyle/>
          <a:p>
            <a:pPr indent="0" marL="0">
              <a:buNone/>
            </a:pPr>
            <a:r>
              <a:rPr lang="en-US" sz="1200" b="1" dirty="0">
                <a:solidFill>
                  <a:srgbClr val="475569"/>
                </a:solidFill>
              </a:rPr>
              <a:t>GIẢNG VIÊN HƯỚNG DẪN
</a:t>
            </a:r>
            <a:pPr indent="0" marL="0">
              <a:buNone/>
            </a:pPr>
            <a:r>
              <a:rPr lang="en-US" sz="2000" b="1" dirty="0">
                <a:solidFill>
                  <a:srgbClr val="0F172A"/>
                </a:solidFill>
              </a:rPr>
              <a:t>TS. Đặng Ngọc Hùng
</a:t>
            </a:r>
            <a:pPr indent="0" marL="0">
              <a:buNone/>
            </a:pPr>
            <a:r>
              <a:rPr lang="en-US" sz="1300" b="1" dirty="0">
                <a:solidFill>
                  <a:srgbClr val="1D4ED8"/>
                </a:solidFill>
              </a:rPr>
              <a:t>hungdn@ptit.edu.vn</a:t>
            </a:r>
            <a:endParaRPr lang="en-US" sz="1200" dirty="0"/>
          </a:p>
        </p:txBody>
      </p:sp>
      <p:sp>
        <p:nvSpPr>
          <p:cNvPr id="8" name="Shape 6"/>
          <p:cNvSpPr/>
          <p:nvPr/>
        </p:nvSpPr>
        <p:spPr>
          <a:xfrm>
            <a:off x="4352544" y="3566160"/>
            <a:ext cx="3474720" cy="1463040"/>
          </a:xfrm>
          <a:prstGeom prst="roundRect">
            <a:avLst>
              <a:gd name="adj" fmla="val 6250"/>
            </a:avLst>
          </a:prstGeom>
          <a:solidFill>
            <a:srgbClr val="F8FAFC"/>
          </a:solidFill>
          <a:ln w="19050">
            <a:solidFill>
              <a:srgbClr val="CBD5E1"/>
            </a:solidFill>
            <a:prstDash val="solid"/>
          </a:ln>
        </p:spPr>
      </p:sp>
      <p:sp>
        <p:nvSpPr>
          <p:cNvPr id="9" name="Text 7"/>
          <p:cNvSpPr/>
          <p:nvPr/>
        </p:nvSpPr>
        <p:spPr>
          <a:xfrm>
            <a:off x="4535424" y="3703320"/>
            <a:ext cx="3108960" cy="1188720"/>
          </a:xfrm>
          <a:prstGeom prst="rect">
            <a:avLst/>
          </a:prstGeom>
          <a:noFill/>
          <a:ln/>
        </p:spPr>
        <p:txBody>
          <a:bodyPr wrap="square" rtlCol="0" anchor="ctr"/>
          <a:lstStyle/>
          <a:p>
            <a:pPr indent="0" marL="0">
              <a:buNone/>
            </a:pPr>
            <a:r>
              <a:rPr lang="en-US" sz="1200" b="1" dirty="0">
                <a:solidFill>
                  <a:srgbClr val="475569"/>
                </a:solidFill>
              </a:rPr>
              <a:t>SINH VIÊN THỰC HIỆN
</a:t>
            </a:r>
            <a:pPr indent="0" marL="0">
              <a:buNone/>
            </a:pPr>
            <a:r>
              <a:rPr lang="en-US" sz="2000" b="1" dirty="0">
                <a:solidFill>
                  <a:srgbClr val="0F172A"/>
                </a:solidFill>
              </a:rPr>
              <a:t>Mai Đức Vinh
</a:t>
            </a:r>
            <a:pPr indent="0" marL="0">
              <a:buNone/>
            </a:pPr>
            <a:r>
              <a:rPr lang="en-US" sz="1300" b="1" dirty="0">
                <a:solidFill>
                  <a:srgbClr val="059669"/>
                </a:solidFill>
              </a:rPr>
              <a:t>Solo Project (100% A-Z)</a:t>
            </a:r>
            <a:endParaRPr lang="en-US" sz="1200" dirty="0"/>
          </a:p>
        </p:txBody>
      </p:sp>
      <p:sp>
        <p:nvSpPr>
          <p:cNvPr id="10" name="Shape 8"/>
          <p:cNvSpPr/>
          <p:nvPr/>
        </p:nvSpPr>
        <p:spPr>
          <a:xfrm>
            <a:off x="8156448" y="3566160"/>
            <a:ext cx="3474720" cy="1463040"/>
          </a:xfrm>
          <a:prstGeom prst="roundRect">
            <a:avLst>
              <a:gd name="adj" fmla="val 6250"/>
            </a:avLst>
          </a:prstGeom>
          <a:solidFill>
            <a:srgbClr val="F8FAFC"/>
          </a:solidFill>
          <a:ln w="19050">
            <a:solidFill>
              <a:srgbClr val="CBD5E1"/>
            </a:solidFill>
            <a:prstDash val="solid"/>
          </a:ln>
        </p:spPr>
      </p:sp>
      <p:sp>
        <p:nvSpPr>
          <p:cNvPr id="11" name="Text 9"/>
          <p:cNvSpPr/>
          <p:nvPr/>
        </p:nvSpPr>
        <p:spPr>
          <a:xfrm>
            <a:off x="8339328" y="3703320"/>
            <a:ext cx="3108960" cy="1188720"/>
          </a:xfrm>
          <a:prstGeom prst="rect">
            <a:avLst/>
          </a:prstGeom>
          <a:noFill/>
          <a:ln/>
        </p:spPr>
        <p:txBody>
          <a:bodyPr wrap="square" rtlCol="0" anchor="ctr"/>
          <a:lstStyle/>
          <a:p>
            <a:pPr indent="0" marL="0">
              <a:buNone/>
            </a:pPr>
            <a:r>
              <a:rPr lang="en-US" sz="1200" b="1" dirty="0">
                <a:solidFill>
                  <a:srgbClr val="475569"/>
                </a:solidFill>
              </a:rPr>
              <a:t>CƠ SỞ ĐÀO TẠO &amp; NỀN TẢNG
</a:t>
            </a:r>
            <a:pPr indent="0" marL="0">
              <a:buNone/>
            </a:pPr>
            <a:r>
              <a:rPr lang="en-US" sz="2000" b="1" dirty="0">
                <a:solidFill>
                  <a:srgbClr val="0F172A"/>
                </a:solidFill>
              </a:rPr>
              <a:t>Học Viện PTIT
</a:t>
            </a:r>
            <a:pPr indent="0" marL="0">
              <a:buNone/>
            </a:pPr>
            <a:r>
              <a:rPr lang="en-US" sz="1300" b="1" dirty="0">
                <a:solidFill>
                  <a:srgbClr val="1D4ED8"/>
                </a:solidFill>
              </a:rPr>
              <a:t>Java 21 LTS (Project Loom)</a:t>
            </a:r>
            <a:endParaRPr lang="en-US" sz="1200" dirty="0"/>
          </a:p>
        </p:txBody>
      </p:sp>
      <p:sp>
        <p:nvSpPr>
          <p:cNvPr id="12" name="Shape 10"/>
          <p:cNvSpPr/>
          <p:nvPr/>
        </p:nvSpPr>
        <p:spPr>
          <a:xfrm>
            <a:off x="1371600" y="6126480"/>
            <a:ext cx="9445752" cy="0"/>
          </a:xfrm>
          <a:prstGeom prst="line">
            <a:avLst/>
          </a:prstGeom>
          <a:noFill/>
          <a:ln w="12700">
            <a:solidFill>
              <a:srgbClr val="E2E8F0"/>
            </a:solidFill>
            <a:prstDash val="solid"/>
          </a:ln>
        </p:spPr>
      </p:sp>
      <p:sp>
        <p:nvSpPr>
          <p:cNvPr id="13" name="Text 11"/>
          <p:cNvSpPr/>
          <p:nvPr/>
        </p:nvSpPr>
        <p:spPr>
          <a:xfrm>
            <a:off x="1371600" y="6217920"/>
            <a:ext cx="9445752" cy="320040"/>
          </a:xfrm>
          <a:prstGeom prst="rect">
            <a:avLst/>
          </a:prstGeom>
          <a:noFill/>
          <a:ln/>
        </p:spPr>
        <p:txBody>
          <a:bodyPr wrap="square"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HỌC VIỆN CÔNG NGHỆ BƯU CHÍNH VIỄN THÔNG (PTIT) • KHOA CÔNG NGHỆ THÔNG TIN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BỐI CẢNH &amp; ĐẶT VẤN ĐỀ</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Thách Thức C10K: Ranh Giới Giữa I/O-Bound &amp; CPU-Bound</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Bản chất của các ứng dụng mạng hiện đại và lý do kiến trúc đơn luồng sụp đổ</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02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02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Tác Vụ I/O-Bound</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Đọc/Ghi Socket TCP, Database, Microservices</a:t>
            </a:r>
            <a:endParaRPr lang="en-US" sz="12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80% — 90% TẢI MẠNG</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1D4ED8"/>
                </a:solidFill>
              </a:rPr>
              <a:t>~96%
</a:t>
            </a:r>
            <a:pPr indent="0" marL="0">
              <a:buNone/>
            </a:pPr>
            <a:r>
              <a:rPr lang="en-US" sz="1150" b="1" dirty="0">
                <a:solidFill>
                  <a:srgbClr val="334155"/>
                </a:solidFill>
              </a:rPr>
              <a:t>Thời gian CPU rảnh rỗi chờ I/O mạng</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1D4ED8"/>
                </a:solidFill>
              </a:rPr>
              <a:t>1 MB
</a:t>
            </a:r>
            <a:pPr indent="0" marL="0">
              <a:buNone/>
            </a:pPr>
            <a:r>
              <a:rPr lang="en-US" sz="1150" b="1" dirty="0">
                <a:solidFill>
                  <a:srgbClr val="334155"/>
                </a:solidFill>
              </a:rPr>
              <a:t>RAM lãng phí / luồng OS bị Blocked</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Lãng Phí Stack 1MB
</a:t>
            </a:r>
            <a:pPr indent="0" marL="0">
              <a:buNone/>
            </a:pPr>
            <a:r>
              <a:rPr lang="en-US" sz="1220" dirty="0">
                <a:solidFill>
                  <a:srgbClr val="334155"/>
                </a:solidFill>
              </a:rPr>
              <a:t>CPU nhàn rỗi 96% nhưng vẫn giam cứng 1MB RAM/luồng chỉ để đứng chờ mạng.</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Nghẽn C10K Sập Máy Chủ
</a:t>
            </a:r>
            <a:pPr indent="0" marL="0">
              <a:buNone/>
            </a:pPr>
            <a:r>
              <a:rPr lang="en-US" sz="1220" dirty="0">
                <a:solidFill>
                  <a:srgbClr val="334155"/>
                </a:solidFill>
              </a:rPr>
              <a:t>10,000 kết nối ngốn tới 10GB RAM chỉ để ngủ đông, làm kiệt quệ hệ thống.</a:t>
            </a:r>
            <a:endParaRPr lang="en-US" sz="14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1D4ED8"/>
                </a:solidFill>
                <a:latin typeface="Arial" pitchFamily="34" charset="0"/>
                <a:ea typeface="Arial" pitchFamily="34" charset="-122"/>
                <a:cs typeface="Arial" pitchFamily="34" charset="-120"/>
              </a:rPr>
              <a:t>🚀 Sân khấu chính: Nơi Thread Pool &amp; Virtual Threads giải phóng sức mạnh máy chủ</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E11D48"/>
          </a:solidFill>
          <a:ln w="12700">
            <a:solidFill>
              <a:srgbClr val="E11D4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Tác Vụ CPU-Bound</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Mã hóa SSL/TLS, Nén dữ liệu gzip, Thuật toán</a:t>
            </a:r>
            <a:endParaRPr lang="en-US" sz="1250" dirty="0"/>
          </a:p>
        </p:txBody>
      </p:sp>
      <p:sp>
        <p:nvSpPr>
          <p:cNvPr id="32" name="Shape 30"/>
          <p:cNvSpPr/>
          <p:nvPr/>
        </p:nvSpPr>
        <p:spPr>
          <a:xfrm>
            <a:off x="9948672" y="1719072"/>
            <a:ext cx="1463040" cy="256032"/>
          </a:xfrm>
          <a:prstGeom prst="roundRect">
            <a:avLst>
              <a:gd name="adj" fmla="val 35714"/>
            </a:avLst>
          </a:prstGeom>
          <a:solidFill>
            <a:srgbClr val="FFF1F2"/>
          </a:solidFill>
          <a:ln w="12700">
            <a:solidFill>
              <a:srgbClr val="FECDD3"/>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10% — 20% TẢI MẠNG</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E11D48"/>
                </a:solidFill>
              </a:rPr>
              <a:t>100%
</a:t>
            </a:r>
            <a:pPr indent="0" marL="0">
              <a:buNone/>
            </a:pPr>
            <a:r>
              <a:rPr lang="en-US" sz="1150" b="1" dirty="0">
                <a:solidFill>
                  <a:srgbClr val="334155"/>
                </a:solidFill>
              </a:rPr>
              <a:t>Xung nhịp CPU hoạt động tối đa</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E11D48"/>
                </a:solidFill>
              </a:rPr>
              <a:t>N Lõi
</a:t>
            </a:r>
            <a:pPr indent="0" marL="0">
              <a:buNone/>
            </a:pPr>
            <a:r>
              <a:rPr lang="en-US" sz="1150" b="1" dirty="0">
                <a:solidFill>
                  <a:srgbClr val="334155"/>
                </a:solidFill>
              </a:rPr>
              <a:t>Trần cứng giới hạn bởi số core vật lý</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Trần Lõi Vật Lý (N Core)
</a:t>
            </a:r>
            <a:pPr indent="0" marL="0">
              <a:buNone/>
            </a:pPr>
            <a:r>
              <a:rPr lang="en-US" sz="1220" dirty="0">
                <a:solidFill>
                  <a:srgbClr val="334155"/>
                </a:solidFill>
              </a:rPr>
              <a:t>Tốc độ phụ thuộc tuyệt đối vào số core CPU; không thể tăng tốc bằng cách đẻ thêm luồng.</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Tổn Thất Đổi Ngữ Cảnh
</a:t>
            </a:r>
            <a:pPr indent="0" marL="0">
              <a:buNone/>
            </a:pPr>
            <a:r>
              <a:rPr lang="en-US" sz="1220" dirty="0">
                <a:solidFill>
                  <a:srgbClr val="334155"/>
                </a:solidFill>
              </a:rPr>
              <a:t>Quá nhiều luồng tranh chấp khiến CPU mất &gt;70% công suất chỉ để tráo Cache L1/L2.</a:t>
            </a:r>
            <a:endParaRPr lang="en-US" sz="1400" dirty="0"/>
          </a:p>
        </p:txBody>
      </p:sp>
      <p:sp>
        <p:nvSpPr>
          <p:cNvPr id="43" name="Shape 41"/>
          <p:cNvSpPr/>
          <p:nvPr/>
        </p:nvSpPr>
        <p:spPr>
          <a:xfrm>
            <a:off x="6455664" y="5084064"/>
            <a:ext cx="4956048" cy="365760"/>
          </a:xfrm>
          <a:prstGeom prst="roundRect">
            <a:avLst>
              <a:gd name="adj" fmla="val 20000"/>
            </a:avLst>
          </a:prstGeom>
          <a:solidFill>
            <a:srgbClr val="FFF1F2"/>
          </a:solidFill>
          <a:ln w="12700">
            <a:solidFill>
              <a:srgbClr val="FECDD3"/>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E11D48"/>
                </a:solidFill>
                <a:latin typeface="Arial" pitchFamily="34" charset="0"/>
                <a:ea typeface="Arial" pitchFamily="34" charset="-122"/>
                <a:cs typeface="Arial" pitchFamily="34" charset="-120"/>
              </a:rPr>
              <a:t>🛡️ Cảnh báo thiết kế: Không thể tăng tốc CPU-Bound bằng cách đẻ thêm luồng</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KẾT LUẬN KIẾN TRÚC: Hệ thống máy chủ mạng hiện đại phải tối ưu hóa triệt để cho tác vụ I/O-Bound (hơn 95% thời gian chờ mạng) thay vì tăng số lượng luồng vô tội vạ!</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KIẾN TRÚC TẦNG THẤP</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Bản Chất Tầng Thấp Của Luồng Hệ Điều Hành (OS Thread)</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Sự chênh lệch khổng lồ giữa tài nguyên của luồng hệ thống và một tác vụ mạng nhỏ</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03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03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Sự Lãng Phí Khi Bùng Nổ Kết Nối</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Chi phí bộ nhớ Stack và độ trễ khởi tạo cấp hệ điều hành</a:t>
            </a:r>
            <a:endParaRPr lang="en-US" sz="12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 MB / LUỒNG OS</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1D4ED8"/>
                </a:solidFill>
              </a:rPr>
              <a:t>2.0 GB
</a:t>
            </a:r>
            <a:pPr indent="0" marL="0">
              <a:buNone/>
            </a:pPr>
            <a:r>
              <a:rPr lang="en-US" sz="1150" b="1" dirty="0">
                <a:solidFill>
                  <a:srgbClr val="334155"/>
                </a:solidFill>
              </a:rPr>
              <a:t>RAM giam cầm cứng khi có 2,000 kết nối</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1D4ED8"/>
                </a:solidFill>
              </a:rPr>
              <a:t>10 Tấn
</a:t>
            </a:r>
            <a:pPr indent="0" marL="0">
              <a:buNone/>
            </a:pPr>
            <a:r>
              <a:rPr lang="en-US" sz="1150" b="1" dirty="0">
                <a:solidFill>
                  <a:srgbClr val="334155"/>
                </a:solidFill>
              </a:rPr>
              <a:t>Ẩn dụ: Xe tải 10 tấn chở 1 bức thư tay</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Ẩn Dụ Thực Tế
</a:t>
            </a:r>
            <a:pPr indent="0" marL="0">
              <a:buNone/>
            </a:pPr>
            <a:r>
              <a:rPr lang="en-US" sz="1220" dirty="0">
                <a:solidFill>
                  <a:srgbClr val="334155"/>
                </a:solidFill>
              </a:rPr>
              <a:t>Cấp riêng cả phòng làm việc 1MB chỉ để xử lý vài chục bytes văn bản nhỏ.</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Phí Khởi Tạo Kernel
</a:t>
            </a:r>
            <a:pPr indent="0" marL="0">
              <a:buNone/>
            </a:pPr>
            <a:r>
              <a:rPr lang="en-US" sz="1220" dirty="0">
                <a:solidFill>
                  <a:srgbClr val="334155"/>
                </a:solidFill>
              </a:rPr>
              <a:t>Mỗi lần sinh luồng mới phải qua System Call xin phép nhân OS, gây trễ mạng.</a:t>
            </a:r>
            <a:endParaRPr lang="en-US" sz="14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1D4ED8"/>
                </a:solidFill>
                <a:latin typeface="Arial" pitchFamily="34" charset="0"/>
                <a:ea typeface="Arial" pitchFamily="34" charset="-122"/>
                <a:cs typeface="Arial" pitchFamily="34" charset="-120"/>
              </a:rPr>
              <a:t>💡 Hậu quả: Bộ nhớ máy chủ cạn kiệt rất nhanh dù CPU hầu như không phải tính toán</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E11D48"/>
          </a:solidFill>
          <a:ln w="12700">
            <a:solidFill>
              <a:srgbClr val="E11D4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Nguy Cơ Chạm Trần &amp; Sập Máy Chủ</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Giới hạn an toàn của hệ điều hành và thảm họa sập dịch vụ</a:t>
            </a:r>
            <a:endParaRPr lang="en-US" sz="1250" dirty="0"/>
          </a:p>
        </p:txBody>
      </p:sp>
      <p:sp>
        <p:nvSpPr>
          <p:cNvPr id="32" name="Shape 30"/>
          <p:cNvSpPr/>
          <p:nvPr/>
        </p:nvSpPr>
        <p:spPr>
          <a:xfrm>
            <a:off x="9948672" y="1719072"/>
            <a:ext cx="1463040" cy="256032"/>
          </a:xfrm>
          <a:prstGeom prst="roundRect">
            <a:avLst>
              <a:gd name="adj" fmla="val 35714"/>
            </a:avLst>
          </a:prstGeom>
          <a:solidFill>
            <a:srgbClr val="FFF1F2"/>
          </a:solidFill>
          <a:ln w="12700">
            <a:solidFill>
              <a:srgbClr val="FECDD3"/>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CRITICAL LIMIT</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E11D48"/>
                </a:solidFill>
              </a:rPr>
              <a:t>OOM
</a:t>
            </a:r>
            <a:pPr indent="0" marL="0">
              <a:buNone/>
            </a:pPr>
            <a:r>
              <a:rPr lang="en-US" sz="1150" b="1" dirty="0">
                <a:solidFill>
                  <a:srgbClr val="334155"/>
                </a:solidFill>
              </a:rPr>
              <a:t>unable to create native thread</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E11D48"/>
                </a:solidFill>
              </a:rPr>
              <a:t>Kernel Max
</a:t>
            </a:r>
            <a:pPr indent="0" marL="0">
              <a:buNone/>
            </a:pPr>
            <a:r>
              <a:rPr lang="en-US" sz="1150" b="1" dirty="0">
                <a:solidFill>
                  <a:srgbClr val="334155"/>
                </a:solidFill>
              </a:rPr>
              <a:t>Hạn mức luồng tối đa của hệ điều hành</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Hạn Mức Bảo Vệ OS
</a:t>
            </a:r>
            <a:pPr indent="0" marL="0">
              <a:buNone/>
            </a:pPr>
            <a:r>
              <a:rPr lang="en-US" sz="1220" dirty="0">
                <a:solidFill>
                  <a:srgbClr val="334155"/>
                </a:solidFill>
              </a:rPr>
              <a:t>Hệ điều hành chặn không cho cấp thêm luồng để tránh treo toàn bộ máy tính.</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Sập Hệ Thống Tức Thì
</a:t>
            </a:r>
            <a:pPr indent="0" marL="0">
              <a:buNone/>
            </a:pPr>
            <a:r>
              <a:rPr lang="en-US" sz="1220" dirty="0">
                <a:solidFill>
                  <a:srgbClr val="334155"/>
                </a:solidFill>
              </a:rPr>
              <a:t>Ứng dụng ném ngoại lệ dừng đột ngột, ngắt kết nối của toàn bộ người dùng đang online.</a:t>
            </a:r>
            <a:endParaRPr lang="en-US" sz="1400" dirty="0"/>
          </a:p>
        </p:txBody>
      </p:sp>
      <p:sp>
        <p:nvSpPr>
          <p:cNvPr id="43" name="Shape 41"/>
          <p:cNvSpPr/>
          <p:nvPr/>
        </p:nvSpPr>
        <p:spPr>
          <a:xfrm>
            <a:off x="6455664" y="5084064"/>
            <a:ext cx="4956048" cy="365760"/>
          </a:xfrm>
          <a:prstGeom prst="roundRect">
            <a:avLst>
              <a:gd name="adj" fmla="val 20000"/>
            </a:avLst>
          </a:prstGeom>
          <a:solidFill>
            <a:srgbClr val="FFF1F2"/>
          </a:solidFill>
          <a:ln w="12700">
            <a:solidFill>
              <a:srgbClr val="FECDD3"/>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E11D48"/>
                </a:solidFill>
                <a:latin typeface="Arial" pitchFamily="34" charset="0"/>
                <a:ea typeface="Arial" pitchFamily="34" charset="-122"/>
                <a:cs typeface="Arial" pitchFamily="34" charset="-120"/>
              </a:rPr>
              <a:t>🛡️ Kết luận: Tuyệt đối không được phục vụ hàng ngàn client bằng cách đẻ luồng vô hạn</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BÀI HỌC CỐT LÕI: Luồng hệ điều hành được thiết kế như những công nhân hạng nặng (Heavyweight), hoàn toàn không phù hợp để ánh xạ trực tiếp 1-1 với các kết nối mạng siêu nhẹ!</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HIỆU NĂNG PHẦN CỨNG</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Hiểm Họa Chuyển Ngữ Cảnh (Context Switching)</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Vòng xoay lãng phí năng lượng khi thời gian tráo đổi luồng vượt qua thời gian làm việc</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04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04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E11D48"/>
          </a:solidFill>
          <a:ln w="12700">
            <a:solidFill>
              <a:srgbClr val="E11D4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Nghẽn Bão Hòa Hiệu Năng</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Hiện tượng Thrashing khi CPU chỉ lo đổi công nhân</a:t>
            </a:r>
            <a:endParaRPr lang="en-US" sz="1250" dirty="0"/>
          </a:p>
        </p:txBody>
      </p:sp>
      <p:sp>
        <p:nvSpPr>
          <p:cNvPr id="15" name="Shape 13"/>
          <p:cNvSpPr/>
          <p:nvPr/>
        </p:nvSpPr>
        <p:spPr>
          <a:xfrm>
            <a:off x="4270248" y="1719072"/>
            <a:ext cx="1463040" cy="256032"/>
          </a:xfrm>
          <a:prstGeom prst="roundRect">
            <a:avLst>
              <a:gd name="adj" fmla="val 35714"/>
            </a:avLst>
          </a:prstGeom>
          <a:solidFill>
            <a:srgbClr val="FFF1F2"/>
          </a:solidFill>
          <a:ln w="12700">
            <a:solidFill>
              <a:srgbClr val="FECDD3"/>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&gt; 70% CPU LÃNG PHÍ</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E11D48"/>
                </a:solidFill>
              </a:rPr>
              <a:t>100%
</a:t>
            </a:r>
            <a:pPr indent="0" marL="0">
              <a:buNone/>
            </a:pPr>
            <a:r>
              <a:rPr lang="en-US" sz="1150" b="1" dirty="0">
                <a:solidFill>
                  <a:srgbClr val="334155"/>
                </a:solidFill>
              </a:rPr>
              <a:t>Chỉ số CPU vọt đỉnh do tranh chấp</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E11D48"/>
                </a:solidFill>
              </a:rPr>
              <a:t>0 RPS
</a:t>
            </a:r>
            <a:pPr indent="0" marL="0">
              <a:buNone/>
            </a:pPr>
            <a:r>
              <a:rPr lang="en-US" sz="1150" b="1" dirty="0">
                <a:solidFill>
                  <a:srgbClr val="334155"/>
                </a:solidFill>
              </a:rPr>
              <a:t>Tiến độ công việc thực tế bị đóng băng</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Xóa Trúng Cache L1/L2
</a:t>
            </a:r>
            <a:pPr indent="0" marL="0">
              <a:buNone/>
            </a:pPr>
            <a:r>
              <a:rPr lang="en-US" sz="1220" dirty="0">
                <a:solidFill>
                  <a:srgbClr val="334155"/>
                </a:solidFill>
              </a:rPr>
              <a:t>Bộ nhớ đệm siêu tốc bị hủy sạch mỗi lần tráo đổi luồng làm mất dữ liệu gần.</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Nạp Lại Từ RAM Chậm Chạp
</a:t>
            </a:r>
            <a:pPr indent="0" marL="0">
              <a:buNone/>
            </a:pPr>
            <a:r>
              <a:rPr lang="en-US" sz="1220" dirty="0">
                <a:solidFill>
                  <a:srgbClr val="334155"/>
                </a:solidFill>
              </a:rPr>
              <a:t>CPU phải chờ đợi hàng trăm chu kỳ xung nhịp để kéo ngữ cảnh luồng mới vào lõi.</a:t>
            </a:r>
            <a:endParaRPr lang="en-US" sz="1400" dirty="0"/>
          </a:p>
        </p:txBody>
      </p:sp>
      <p:sp>
        <p:nvSpPr>
          <p:cNvPr id="26" name="Shape 24"/>
          <p:cNvSpPr/>
          <p:nvPr/>
        </p:nvSpPr>
        <p:spPr>
          <a:xfrm>
            <a:off x="777240" y="5084064"/>
            <a:ext cx="4956048" cy="365760"/>
          </a:xfrm>
          <a:prstGeom prst="roundRect">
            <a:avLst>
              <a:gd name="adj" fmla="val 20000"/>
            </a:avLst>
          </a:prstGeom>
          <a:solidFill>
            <a:srgbClr val="FFF1F2"/>
          </a:solidFill>
          <a:ln w="12700">
            <a:solidFill>
              <a:srgbClr val="FECDD3"/>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E11D48"/>
                </a:solidFill>
                <a:latin typeface="Arial" pitchFamily="34" charset="0"/>
                <a:ea typeface="Arial" pitchFamily="34" charset="-122"/>
                <a:cs typeface="Arial" pitchFamily="34" charset="-120"/>
              </a:rPr>
              <a:t>⚠️ Bi kịch: Máy chủ gào rú 100% CPU nhưng người dùng lại bị treo màn hình!</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D97706"/>
          </a:solidFill>
          <a:ln w="12700">
            <a:solidFill>
              <a:srgbClr val="D97706"/>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Quy Tắc Vàng Thiết Kế Hệ Thống</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Chiến lược kiểm soát luồng giải cứu máy chủ mạng</a:t>
            </a:r>
            <a:endParaRPr lang="en-US" sz="1250" dirty="0"/>
          </a:p>
        </p:txBody>
      </p:sp>
      <p:sp>
        <p:nvSpPr>
          <p:cNvPr id="32" name="Shape 30"/>
          <p:cNvSpPr/>
          <p:nvPr/>
        </p:nvSpPr>
        <p:spPr>
          <a:xfrm>
            <a:off x="9948672" y="1719072"/>
            <a:ext cx="1463040" cy="256032"/>
          </a:xfrm>
          <a:prstGeom prst="roundRect">
            <a:avLst>
              <a:gd name="adj" fmla="val 35714"/>
            </a:avLst>
          </a:prstGeom>
          <a:solidFill>
            <a:srgbClr val="FFFBEB"/>
          </a:solidFill>
          <a:ln w="12700">
            <a:solidFill>
              <a:srgbClr val="FDE68A"/>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D97706"/>
                </a:solidFill>
                <a:latin typeface="Arial" pitchFamily="34" charset="0"/>
                <a:ea typeface="Arial" pitchFamily="34" charset="-122"/>
                <a:cs typeface="Arial" pitchFamily="34" charset="-120"/>
              </a:rPr>
              <a:t>KIẾN TRÚC TỐI ƯU</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D97706"/>
                </a:solidFill>
              </a:rPr>
              <a:t>Threads ≈ Cores
</a:t>
            </a:r>
            <a:pPr indent="0" marL="0">
              <a:buNone/>
            </a:pPr>
            <a:r>
              <a:rPr lang="en-US" sz="1150" b="1" dirty="0">
                <a:solidFill>
                  <a:srgbClr val="334155"/>
                </a:solidFill>
              </a:rPr>
              <a:t>Nguyên tắc số luồng tương đương lõi CPU</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D97706"/>
                </a:solidFill>
              </a:rPr>
              <a:t>2 Giải Pháp
</a:t>
            </a:r>
            <a:pPr indent="0" marL="0">
              <a:buNone/>
            </a:pPr>
            <a:r>
              <a:rPr lang="en-US" sz="1150" b="1" dirty="0">
                <a:solidFill>
                  <a:srgbClr val="334155"/>
                </a:solidFill>
              </a:rPr>
              <a:t>Thread Pool &amp; Virtual Threads</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Hồ Luồng Kiểm Soát (Pool)
</a:t>
            </a:r>
            <a:pPr indent="0" marL="0">
              <a:buNone/>
            </a:pPr>
            <a:r>
              <a:rPr lang="en-US" sz="1220" dirty="0">
                <a:solidFill>
                  <a:srgbClr val="334155"/>
                </a:solidFill>
              </a:rPr>
              <a:t>Cố định số lượng công nhân và cho tác vụ xếp hàng đợi ngăn chặn nghẽn CPU.</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Luồng Ảo Java 21
</a:t>
            </a:r>
            <a:pPr indent="0" marL="0">
              <a:buNone/>
            </a:pPr>
            <a:r>
              <a:rPr lang="en-US" sz="1220" dirty="0">
                <a:solidFill>
                  <a:srgbClr val="334155"/>
                </a:solidFill>
              </a:rPr>
              <a:t>Chuyển quyền điều phối luồng từ Kernel OS về máy ảo JVM để triệt tiêu chi phí.</a:t>
            </a:r>
            <a:endParaRPr lang="en-US" sz="1400" dirty="0"/>
          </a:p>
        </p:txBody>
      </p:sp>
      <p:sp>
        <p:nvSpPr>
          <p:cNvPr id="43" name="Shape 41"/>
          <p:cNvSpPr/>
          <p:nvPr/>
        </p:nvSpPr>
        <p:spPr>
          <a:xfrm>
            <a:off x="6455664" y="5084064"/>
            <a:ext cx="4956048" cy="365760"/>
          </a:xfrm>
          <a:prstGeom prst="roundRect">
            <a:avLst>
              <a:gd name="adj" fmla="val 20000"/>
            </a:avLst>
          </a:prstGeom>
          <a:solidFill>
            <a:srgbClr val="FFFBEB"/>
          </a:solidFill>
          <a:ln w="12700">
            <a:solidFill>
              <a:srgbClr val="FDE68A"/>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 Mục tiêu: Tối đa hóa công suất CPU mà không phải trả phí chuyển ngữ cảnh của OS</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BẢN CHẤT KỸ THUẬT: Đừng bao giờ nhầm lẫn giữa "nhiều luồng" và "chạy nhanh". Số luồng vượt quá năng lực phần cứng chỉ tạo ra vòng xoáy lãng phí năng lượng vô ích!</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MODE 1 • MỐC ĐỐI CHỨNG</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1: Mô Hình Đơn Luồng Xử Lý Tuần Tự</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Nguyên lý "Một người phục vụ tất cả" và hiện tượng nghẽn mạng dây chuyền</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06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06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E11D48"/>
          </a:solidFill>
          <a:ln w="12700">
            <a:solidFill>
              <a:srgbClr val="E11D4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Kẹt Xe Dây Chuyền (Head-of-Line Blocking)</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Hiện tượng một kết nối chặn toàn bộ hệ thống</a:t>
            </a:r>
            <a:endParaRPr lang="en-US" sz="1250" dirty="0"/>
          </a:p>
        </p:txBody>
      </p:sp>
      <p:sp>
        <p:nvSpPr>
          <p:cNvPr id="15" name="Shape 13"/>
          <p:cNvSpPr/>
          <p:nvPr/>
        </p:nvSpPr>
        <p:spPr>
          <a:xfrm>
            <a:off x="4270248" y="1719072"/>
            <a:ext cx="1463040" cy="256032"/>
          </a:xfrm>
          <a:prstGeom prst="roundRect">
            <a:avLst>
              <a:gd name="adj" fmla="val 35714"/>
            </a:avLst>
          </a:prstGeom>
          <a:solidFill>
            <a:srgbClr val="FFF1F2"/>
          </a:solidFill>
          <a:ln w="12700">
            <a:solidFill>
              <a:srgbClr val="FECDD3"/>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NGHẼN CỔ CHAI</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E11D48"/>
                </a:solidFill>
              </a:rPr>
              <a:t>9.8 RPS
</a:t>
            </a:r>
            <a:pPr indent="0" marL="0">
              <a:buNone/>
            </a:pPr>
            <a:r>
              <a:rPr lang="en-US" sz="1150" b="1" dirty="0">
                <a:solidFill>
                  <a:srgbClr val="334155"/>
                </a:solidFill>
              </a:rPr>
              <a:t>Thông lượng rơi xuống đáy do phục vụ lần lượt</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E11D48"/>
                </a:solidFill>
              </a:rPr>
              <a:t>3,000 ms
</a:t>
            </a:r>
            <a:pPr indent="0" marL="0">
              <a:buNone/>
            </a:pPr>
            <a:r>
              <a:rPr lang="en-US" sz="1150" b="1" dirty="0">
                <a:solidFill>
                  <a:srgbClr val="334155"/>
                </a:solidFill>
              </a:rPr>
              <a:t>Tổng độ trễ tích lũy khi có 30 kết nối nối đuôi</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Giam Cầm TCP Backlog
</a:t>
            </a:r>
            <a:pPr indent="0" marL="0">
              <a:buNone/>
            </a:pPr>
            <a:r>
              <a:rPr lang="en-US" sz="1220" dirty="0">
                <a:solidFill>
                  <a:srgbClr val="334155"/>
                </a:solidFill>
              </a:rPr>
              <a:t>Khách 1 đang phục vụ, 29 khách còn lại bị giam ngoài hàng đợi mạng của OS.</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Lãng Phí 99% Năng Lực
</a:t>
            </a:r>
            <a:pPr indent="0" marL="0">
              <a:buNone/>
            </a:pPr>
            <a:r>
              <a:rPr lang="en-US" sz="1220" dirty="0">
                <a:solidFill>
                  <a:srgbClr val="334155"/>
                </a:solidFill>
              </a:rPr>
              <a:t>1 luồng bị treo chờ I/O mạng 100ms, toàn bộ máy tính bị kéo tụt theo.</a:t>
            </a:r>
            <a:endParaRPr lang="en-US" sz="1400" dirty="0"/>
          </a:p>
        </p:txBody>
      </p:sp>
      <p:sp>
        <p:nvSpPr>
          <p:cNvPr id="26" name="Shape 24"/>
          <p:cNvSpPr/>
          <p:nvPr/>
        </p:nvSpPr>
        <p:spPr>
          <a:xfrm>
            <a:off x="777240" y="5084064"/>
            <a:ext cx="4956048" cy="365760"/>
          </a:xfrm>
          <a:prstGeom prst="roundRect">
            <a:avLst>
              <a:gd name="adj" fmla="val 20000"/>
            </a:avLst>
          </a:prstGeom>
          <a:solidFill>
            <a:srgbClr val="FFF1F2"/>
          </a:solidFill>
          <a:ln w="12700">
            <a:solidFill>
              <a:srgbClr val="FECDD3"/>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E11D48"/>
                </a:solidFill>
                <a:latin typeface="Arial" pitchFamily="34" charset="0"/>
                <a:ea typeface="Arial" pitchFamily="34" charset="-122"/>
                <a:cs typeface="Arial" pitchFamily="34" charset="-120"/>
              </a:rPr>
              <a:t>⚠️ Hạn chế: Chỉ cần 1 khách mạng chậm (Slowloris), toàn bộ máy chủ tê liệt!</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1D4ED8"/>
          </a:solidFill>
          <a:ln w="12700">
            <a:solidFill>
              <a:srgbClr val="1D4ED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Ý Nghĩa Khoa Học Trong Đề Tài</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Mốc đối chứng cơ bản và tư duy thiết kế đơn luồng</a:t>
            </a:r>
            <a:endParaRPr lang="en-US" sz="1250" dirty="0"/>
          </a:p>
        </p:txBody>
      </p:sp>
      <p:sp>
        <p:nvSpPr>
          <p:cNvPr id="32" name="Shape 30"/>
          <p:cNvSpPr/>
          <p:nvPr/>
        </p:nvSpPr>
        <p:spPr>
          <a:xfrm>
            <a:off x="9948672" y="1719072"/>
            <a:ext cx="1463040" cy="256032"/>
          </a:xfrm>
          <a:prstGeom prst="roundRect">
            <a:avLst>
              <a:gd name="adj" fmla="val 35714"/>
            </a:avLst>
          </a:prstGeom>
          <a:solidFill>
            <a:srgbClr val="EFF6FF"/>
          </a:solidFill>
          <a:ln w="12700">
            <a:solidFill>
              <a:srgbClr val="BFDBFE"/>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BASELINE CHUẨN</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1D4ED8"/>
                </a:solidFill>
              </a:rPr>
              <a:t>1 Thread
</a:t>
            </a:r>
            <a:pPr indent="0" marL="0">
              <a:buNone/>
            </a:pPr>
            <a:r>
              <a:rPr lang="en-US" sz="1150" b="1" dirty="0">
                <a:solidFill>
                  <a:srgbClr val="334155"/>
                </a:solidFill>
              </a:rPr>
              <a:t>Chỉ dùng duy nhất 1 luồng OS xuyên suốt</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1D4ED8"/>
                </a:solidFill>
              </a:rPr>
              <a:t>0 Lock
</a:t>
            </a:r>
            <a:pPr indent="0" marL="0">
              <a:buNone/>
            </a:pPr>
            <a:r>
              <a:rPr lang="en-US" sz="1150" b="1" dirty="0">
                <a:solidFill>
                  <a:srgbClr val="334155"/>
                </a:solidFill>
              </a:rPr>
              <a:t>Không lo tranh chấp bộ nhớ hay Deadlock</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Thước Đo Chuẩn Mực
</a:t>
            </a:r>
            <a:pPr indent="0" marL="0">
              <a:buNone/>
            </a:pPr>
            <a:r>
              <a:rPr lang="en-US" sz="1220" dirty="0">
                <a:solidFill>
                  <a:srgbClr val="334155"/>
                </a:solidFill>
              </a:rPr>
              <a:t>Làm mốc đối chứng khoa học để đo lường mức bứt phá của 4 mô hình đa luồng.</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Đánh Đổi Trải Nghiệm
</a:t>
            </a:r>
            <a:pPr indent="0" marL="0">
              <a:buNone/>
            </a:pPr>
            <a:r>
              <a:rPr lang="en-US" sz="1220" dirty="0">
                <a:solidFill>
                  <a:srgbClr val="334155"/>
                </a:solidFill>
              </a:rPr>
              <a:t>Chi phí CPU và RAM cực thấp nhưng không thể đáp ứng môi trường mạng hiện đại.</a:t>
            </a:r>
            <a:endParaRPr lang="en-US" sz="1400" dirty="0"/>
          </a:p>
        </p:txBody>
      </p:sp>
      <p:sp>
        <p:nvSpPr>
          <p:cNvPr id="43" name="Shape 41"/>
          <p:cNvSpPr/>
          <p:nvPr/>
        </p:nvSpPr>
        <p:spPr>
          <a:xfrm>
            <a:off x="6455664" y="5084064"/>
            <a:ext cx="4956048" cy="365760"/>
          </a:xfrm>
          <a:prstGeom prst="roundRect">
            <a:avLst>
              <a:gd name="adj" fmla="val 20000"/>
            </a:avLst>
          </a:prstGeom>
          <a:solidFill>
            <a:srgbClr val="EFF6FF"/>
          </a:solidFill>
          <a:ln w="12700">
            <a:solidFill>
              <a:srgbClr val="BFDBFE"/>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1D4ED8"/>
                </a:solidFill>
                <a:latin typeface="Arial" pitchFamily="34" charset="0"/>
                <a:ea typeface="Arial" pitchFamily="34" charset="-122"/>
                <a:cs typeface="Arial" pitchFamily="34" charset="-120"/>
              </a:rPr>
              <a:t>🎯 Đúc kết: Đơn luồng chỉ thích hợp cho script cục bộ, tối kỵ cho server đồng thời</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BÀI HỌC THIẾT KẾ: Mô hình tuần tự thất bại không phải vì thiếu CPU, mà vì thời gian chờ I/O mạng của người trước biến thành thời gian chờ đợi của người sau!</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MODE 2 • ĐA LUỒNG CỔ ĐIỂN</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2: Mỗi Kết Nối Một Luồng Riêng Biệt</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Ý tưởng giải phóng phục vụ song song và cái bẫy bùng nổ tài nguyên</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07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07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059669"/>
          </a:solidFill>
          <a:ln w="12700">
            <a:solidFill>
              <a:srgbClr val="059669"/>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Lợi Thế Song Song Tức Thì</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Tăng tốc vượt trội ở mức tải đồng thời nhỏ</a:t>
            </a:r>
            <a:endParaRPr lang="en-US" sz="1250" dirty="0"/>
          </a:p>
        </p:txBody>
      </p:sp>
      <p:sp>
        <p:nvSpPr>
          <p:cNvPr id="15" name="Shape 13"/>
          <p:cNvSpPr/>
          <p:nvPr/>
        </p:nvSpPr>
        <p:spPr>
          <a:xfrm>
            <a:off x="4270248" y="1719072"/>
            <a:ext cx="1463040" cy="256032"/>
          </a:xfrm>
          <a:prstGeom prst="roundRect">
            <a:avLst>
              <a:gd name="adj" fmla="val 35714"/>
            </a:avLst>
          </a:prstGeom>
          <a:solidFill>
            <a:srgbClr val="ECFDF5"/>
          </a:solidFill>
          <a:ln w="12700">
            <a:solidFill>
              <a:srgbClr val="A7F3D0"/>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TĂNG TỐC 26x</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059669"/>
                </a:solidFill>
              </a:rPr>
              <a:t>285 RPS
</a:t>
            </a:r>
            <a:pPr indent="0" marL="0">
              <a:buNone/>
            </a:pPr>
            <a:r>
              <a:rPr lang="en-US" sz="1150" b="1" dirty="0">
                <a:solidFill>
                  <a:srgbClr val="334155"/>
                </a:solidFill>
              </a:rPr>
              <a:t>Thông lượng bứt phá gấp 26 lần so với Mode 1</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059669"/>
                </a:solidFill>
              </a:rPr>
              <a:t>115 ms
</a:t>
            </a:r>
            <a:pPr indent="0" marL="0">
              <a:buNone/>
            </a:pPr>
            <a:r>
              <a:rPr lang="en-US" sz="1150" b="1" dirty="0">
                <a:solidFill>
                  <a:srgbClr val="334155"/>
                </a:solidFill>
              </a:rPr>
              <a:t>30 kết nối hoàn tất song song đồng thời</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Độc Lập Tuyệt Đối
</a:t>
            </a:r>
            <a:pPr indent="0" marL="0">
              <a:buNone/>
            </a:pPr>
            <a:r>
              <a:rPr lang="en-US" sz="1220" dirty="0">
                <a:solidFill>
                  <a:srgbClr val="334155"/>
                </a:solidFill>
              </a:rPr>
              <a:t>Mỗi khách có 1 công nhân riêng phục vụ, không ai phải đợi ai.</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Cảm Giác Tức Thì
</a:t>
            </a:r>
            <a:pPr indent="0" marL="0">
              <a:buNone/>
            </a:pPr>
            <a:r>
              <a:rPr lang="en-US" sz="1220" dirty="0">
                <a:solidFill>
                  <a:srgbClr val="334155"/>
                </a:solidFill>
              </a:rPr>
              <a:t>Ở quy mô vài chục khách, phản hồi cực kỳ mượt mà và dễ hiểu.</a:t>
            </a:r>
            <a:endParaRPr lang="en-US" sz="1400" dirty="0"/>
          </a:p>
        </p:txBody>
      </p:sp>
      <p:sp>
        <p:nvSpPr>
          <p:cNvPr id="26" name="Shape 24"/>
          <p:cNvSpPr/>
          <p:nvPr/>
        </p:nvSpPr>
        <p:spPr>
          <a:xfrm>
            <a:off x="777240" y="5084064"/>
            <a:ext cx="4956048" cy="365760"/>
          </a:xfrm>
          <a:prstGeom prst="roundRect">
            <a:avLst>
              <a:gd name="adj" fmla="val 20000"/>
            </a:avLst>
          </a:prstGeom>
          <a:solidFill>
            <a:srgbClr val="ECFDF5"/>
          </a:solidFill>
          <a:ln w="12700">
            <a:solidFill>
              <a:srgbClr val="A7F3D0"/>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059669"/>
                </a:solidFill>
                <a:latin typeface="Arial" pitchFamily="34" charset="0"/>
                <a:ea typeface="Arial" pitchFamily="34" charset="-122"/>
                <a:cs typeface="Arial" pitchFamily="34" charset="-120"/>
              </a:rPr>
              <a:t>✨ Ưu điểm: Lập trình trực quan, giải quyết triệt để vấn đề Head-of-Line Blocking</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E11D48"/>
          </a:solidFill>
          <a:ln w="12700">
            <a:solidFill>
              <a:srgbClr val="E11D4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Cái Bẫy Bùng Nổ Khi Tải Cao</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Giới hạn phần cứng và nguy cơ sập máy chủ</a:t>
            </a:r>
            <a:endParaRPr lang="en-US" sz="1250" dirty="0"/>
          </a:p>
        </p:txBody>
      </p:sp>
      <p:sp>
        <p:nvSpPr>
          <p:cNvPr id="32" name="Shape 30"/>
          <p:cNvSpPr/>
          <p:nvPr/>
        </p:nvSpPr>
        <p:spPr>
          <a:xfrm>
            <a:off x="9948672" y="1719072"/>
            <a:ext cx="1463040" cy="256032"/>
          </a:xfrm>
          <a:prstGeom prst="roundRect">
            <a:avLst>
              <a:gd name="adj" fmla="val 35714"/>
            </a:avLst>
          </a:prstGeom>
          <a:solidFill>
            <a:srgbClr val="FFF1F2"/>
          </a:solidFill>
          <a:ln w="12700">
            <a:solidFill>
              <a:srgbClr val="FECDD3"/>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CRITICAL RISK</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E11D48"/>
                </a:solidFill>
              </a:rPr>
              <a:t>OOM Crash
</a:t>
            </a:r>
            <a:pPr indent="0" marL="0">
              <a:buNone/>
            </a:pPr>
            <a:r>
              <a:rPr lang="en-US" sz="1150" b="1" dirty="0">
                <a:solidFill>
                  <a:srgbClr val="334155"/>
                </a:solidFill>
              </a:rPr>
              <a:t>Sập ứng dụng khi vượt ngưỡng luồng OS cho phép</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E11D48"/>
                </a:solidFill>
              </a:rPr>
              <a:t>2,000 MB
</a:t>
            </a:r>
            <a:pPr indent="0" marL="0">
              <a:buNone/>
            </a:pPr>
            <a:r>
              <a:rPr lang="en-US" sz="1150" b="1" dirty="0">
                <a:solidFill>
                  <a:srgbClr val="334155"/>
                </a:solidFill>
              </a:rPr>
              <a:t>Bộ nhớ RAM giam cứng vô ích khi tải tăng</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Đường Đỏ Bám Sát Xanh
</a:t>
            </a:r>
            <a:pPr indent="0" marL="0">
              <a:buNone/>
            </a:pPr>
            <a:r>
              <a:rPr lang="en-US" sz="1220" dirty="0">
                <a:solidFill>
                  <a:srgbClr val="334155"/>
                </a:solidFill>
              </a:rPr>
              <a:t>Số luồng OS tăng vọt dựng đứng tỉ lệ 1:1 theo lượng khách truy cập.</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Kiệt Quệ Hệ Thống
</a:t>
            </a:r>
            <a:pPr indent="0" marL="0">
              <a:buNone/>
            </a:pPr>
            <a:r>
              <a:rPr lang="en-US" sz="1220" dirty="0">
                <a:solidFill>
                  <a:srgbClr val="334155"/>
                </a:solidFill>
              </a:rPr>
              <a:t>Hàng nghìn luồng tranh chấp lõi CPU khiến máy chủ quá tải và tự tắt.</a:t>
            </a:r>
            <a:endParaRPr lang="en-US" sz="1400" dirty="0"/>
          </a:p>
        </p:txBody>
      </p:sp>
      <p:sp>
        <p:nvSpPr>
          <p:cNvPr id="43" name="Shape 41"/>
          <p:cNvSpPr/>
          <p:nvPr/>
        </p:nvSpPr>
        <p:spPr>
          <a:xfrm>
            <a:off x="6455664" y="5084064"/>
            <a:ext cx="4956048" cy="365760"/>
          </a:xfrm>
          <a:prstGeom prst="roundRect">
            <a:avLst>
              <a:gd name="adj" fmla="val 20000"/>
            </a:avLst>
          </a:prstGeom>
          <a:solidFill>
            <a:srgbClr val="FFF1F2"/>
          </a:solidFill>
          <a:ln w="12700">
            <a:solidFill>
              <a:srgbClr val="FECDD3"/>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E11D48"/>
                </a:solidFill>
                <a:latin typeface="Arial" pitchFamily="34" charset="0"/>
                <a:ea typeface="Arial" pitchFamily="34" charset="-122"/>
                <a:cs typeface="Arial" pitchFamily="34" charset="-120"/>
              </a:rPr>
              <a:t>🛡️ Cảnh báo: Mô hình ngây thơ (Naive Pattern), không thể chạy production!</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KẾT LUẬN THIẾT KẾ: Mode 2 đánh đổi sự an toàn của cả hệ điều hành để đổi lấy sự tiện lợi nhất thời. Hệ thống sẽ sụp đổ ngay khi có đợt traffic spike!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MODE 3 • CHUẨN DOANH NGHIỆP</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3: Đội Ngũ Nhân Viên Cố Định &amp; Hàng Ghế Chờ</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Mẫu thiết kế chuẩn doanh nghiệp giúp kiểm soát tài nguyên an toàn tuyệt đối</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08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08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Khóa Cứng Hạn Mức Tài Nguyên</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Chiến lược kiểm soát tuyệt đối công nhân hệ điều hành</a:t>
            </a:r>
            <a:endParaRPr lang="en-US" sz="12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CHUẨN DOANH NGHIỆP</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1D4ED8"/>
                </a:solidFill>
              </a:rPr>
              <a:t>16 Luồng
</a:t>
            </a:r>
            <a:pPr indent="0" marL="0">
              <a:buNone/>
            </a:pPr>
            <a:r>
              <a:rPr lang="en-US" sz="1150" b="1" dirty="0">
                <a:solidFill>
                  <a:srgbClr val="334155"/>
                </a:solidFill>
              </a:rPr>
              <a:t>Chặn cứng số công nhân, không bao giờ sinh thêm</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1D4ED8"/>
                </a:solidFill>
              </a:rPr>
              <a:t>~150 RPS
</a:t>
            </a:r>
            <a:pPr indent="0" marL="0">
              <a:buNone/>
            </a:pPr>
            <a:r>
              <a:rPr lang="en-US" sz="1150" b="1" dirty="0">
                <a:solidFill>
                  <a:srgbClr val="334155"/>
                </a:solidFill>
              </a:rPr>
              <a:t>Thông lượng ổn định bền vững theo thời gian</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Tái Sử Dụng Luồng
</a:t>
            </a:r>
            <a:pPr indent="0" marL="0">
              <a:buNone/>
            </a:pPr>
            <a:r>
              <a:rPr lang="en-US" sz="1220" dirty="0">
                <a:solidFill>
                  <a:srgbClr val="334155"/>
                </a:solidFill>
              </a:rPr>
              <a:t>Công nhân làm xong việc không bị hủy mà quay lại nhận việc mới lập tức.</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Không Quá Tải CPU
</a:t>
            </a:r>
            <a:pPr indent="0" marL="0">
              <a:buNone/>
            </a:pPr>
            <a:r>
              <a:rPr lang="en-US" sz="1220" dirty="0">
                <a:solidFill>
                  <a:srgbClr val="334155"/>
                </a:solidFill>
              </a:rPr>
              <a:t>Triệt tiêu hoàn toàn chi phí tạo luồng mới và bảo vệ lõi xử lý khỏi nghẽn.</a:t>
            </a:r>
            <a:endParaRPr lang="en-US" sz="14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1D4ED8"/>
                </a:solidFill>
                <a:latin typeface="Arial" pitchFamily="34" charset="0"/>
                <a:ea typeface="Arial" pitchFamily="34" charset="-122"/>
                <a:cs typeface="Arial" pitchFamily="34" charset="-120"/>
              </a:rPr>
              <a:t>✨ Ưu điểm: Mẫu thiết kế phòng ngự kinh điển của các hệ thống backend lớn</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D97706"/>
          </a:solidFill>
          <a:ln w="12700">
            <a:solidFill>
              <a:srgbClr val="D97706"/>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Sự Đánh Đổi Thiết Kế (Trade-off)</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Độ trễ hàng đợi và sự sống còn của máy chủ</a:t>
            </a:r>
            <a:endParaRPr lang="en-US" sz="1250" dirty="0"/>
          </a:p>
        </p:txBody>
      </p:sp>
      <p:sp>
        <p:nvSpPr>
          <p:cNvPr id="32" name="Shape 30"/>
          <p:cNvSpPr/>
          <p:nvPr/>
        </p:nvSpPr>
        <p:spPr>
          <a:xfrm>
            <a:off x="9948672" y="1719072"/>
            <a:ext cx="1463040" cy="256032"/>
          </a:xfrm>
          <a:prstGeom prst="roundRect">
            <a:avLst>
              <a:gd name="adj" fmla="val 35714"/>
            </a:avLst>
          </a:prstGeom>
          <a:solidFill>
            <a:srgbClr val="FFFBEB"/>
          </a:solidFill>
          <a:ln w="12700">
            <a:solidFill>
              <a:srgbClr val="FDE68A"/>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D97706"/>
                </a:solidFill>
                <a:latin typeface="Arial" pitchFamily="34" charset="0"/>
                <a:ea typeface="Arial" pitchFamily="34" charset="-122"/>
                <a:cs typeface="Arial" pitchFamily="34" charset="-120"/>
              </a:rPr>
              <a:t>QUEUING DELAY</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D97706"/>
                </a:solidFill>
              </a:rPr>
              <a:t>1,000 Chỗ
</a:t>
            </a:r>
            <a:pPr indent="0" marL="0">
              <a:buNone/>
            </a:pPr>
            <a:r>
              <a:rPr lang="en-US" sz="1150" b="1" dirty="0">
                <a:solidFill>
                  <a:srgbClr val="334155"/>
                </a:solidFill>
              </a:rPr>
              <a:t>Dung lượng hàng ghế chờ đệm an toàn</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D97706"/>
                </a:solidFill>
              </a:rPr>
              <a:t>+ Latency
</a:t>
            </a:r>
            <a:pPr indent="0" marL="0">
              <a:buNone/>
            </a:pPr>
            <a:r>
              <a:rPr lang="en-US" sz="1150" b="1" dirty="0">
                <a:solidFill>
                  <a:srgbClr val="334155"/>
                </a:solidFill>
              </a:rPr>
              <a:t>Độ trễ tăng nhẹ khi khách vượt số luồng</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Chờ Đến Lượt
</a:t>
            </a:r>
            <a:pPr indent="0" marL="0">
              <a:buNone/>
            </a:pPr>
            <a:r>
              <a:rPr lang="en-US" sz="1220" dirty="0">
                <a:solidFill>
                  <a:srgbClr val="334155"/>
                </a:solidFill>
              </a:rPr>
              <a:t>Khách thứ 17 trở đi phải ngồi chờ trong hàng ghế, phát sinh độ trễ xếp hàng.</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Đánh Đổi Xứng Đáng
</a:t>
            </a:r>
            <a:pPr indent="0" marL="0">
              <a:buNone/>
            </a:pPr>
            <a:r>
              <a:rPr lang="en-US" sz="1220" dirty="0">
                <a:solidFill>
                  <a:srgbClr val="334155"/>
                </a:solidFill>
              </a:rPr>
              <a:t>Thà để khách đợi thêm vài chục mili-giây còn hơn để sập máy chủ toàn diện.</a:t>
            </a:r>
            <a:endParaRPr lang="en-US" sz="1400" dirty="0"/>
          </a:p>
        </p:txBody>
      </p:sp>
      <p:sp>
        <p:nvSpPr>
          <p:cNvPr id="43" name="Shape 41"/>
          <p:cNvSpPr/>
          <p:nvPr/>
        </p:nvSpPr>
        <p:spPr>
          <a:xfrm>
            <a:off x="6455664" y="5084064"/>
            <a:ext cx="4956048" cy="365760"/>
          </a:xfrm>
          <a:prstGeom prst="roundRect">
            <a:avLst>
              <a:gd name="adj" fmla="val 20000"/>
            </a:avLst>
          </a:prstGeom>
          <a:solidFill>
            <a:srgbClr val="FFFBEB"/>
          </a:solidFill>
          <a:ln w="12700">
            <a:solidFill>
              <a:srgbClr val="FDE68A"/>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 Cốt lõi: Duy trì tính toàn vẹn và sự sẵn sàng liên tục của dịch vụ</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BÀI HỌC VẬN HÀNH: Thread Pool là lá chắn phòng thủ số 1 của mọi kiến trúc máy chủ mạng. Nó tách rời số lượng khách kết nối ra khỏi số lượng luồng vật lý!</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CƠ CHẾ BẢO VỆ HỆ THỐNG</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Cơ Chế Hàng Ghế Chờ Giới Hạn &amp; Van Xả An Toàn</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Bảo vệ máy chủ không bao giờ bị Crash khi đối mặt với các đợt bắn tải đột biến</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09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09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E11D48"/>
          </a:solidFill>
          <a:ln w="12700">
            <a:solidFill>
              <a:srgbClr val="E11D4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Hiểm Họa Của Hàng Đợi Vô Hạn</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Cái bẫy Unbounded Queue nuốt trọn bộ nhớ RAM</a:t>
            </a:r>
            <a:endParaRPr lang="en-US" sz="1250" dirty="0"/>
          </a:p>
        </p:txBody>
      </p:sp>
      <p:sp>
        <p:nvSpPr>
          <p:cNvPr id="15" name="Shape 13"/>
          <p:cNvSpPr/>
          <p:nvPr/>
        </p:nvSpPr>
        <p:spPr>
          <a:xfrm>
            <a:off x="4270248" y="1719072"/>
            <a:ext cx="1463040" cy="256032"/>
          </a:xfrm>
          <a:prstGeom prst="roundRect">
            <a:avLst>
              <a:gd name="adj" fmla="val 35714"/>
            </a:avLst>
          </a:prstGeom>
          <a:solidFill>
            <a:srgbClr val="FFF1F2"/>
          </a:solidFill>
          <a:ln w="12700">
            <a:solidFill>
              <a:srgbClr val="FECDD3"/>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UNBOUNDED QUEUE</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E11D48"/>
                </a:solidFill>
              </a:rPr>
              <a:t>RAM Cạn
</a:t>
            </a:r>
            <a:pPr indent="0" marL="0">
              <a:buNone/>
            </a:pPr>
            <a:r>
              <a:rPr lang="en-US" sz="1150" b="1" dirty="0">
                <a:solidFill>
                  <a:srgbClr val="334155"/>
                </a:solidFill>
              </a:rPr>
              <a:t>Hàng đợi phình to không đáy nuốt trọn bộ nhớ</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E11D48"/>
                </a:solidFill>
              </a:rPr>
              <a:t>Treo Máy
</a:t>
            </a:r>
            <a:pPr indent="0" marL="0">
              <a:buNone/>
            </a:pPr>
            <a:r>
              <a:rPr lang="en-US" sz="1150" b="1" dirty="0">
                <a:solidFill>
                  <a:srgbClr val="334155"/>
                </a:solidFill>
              </a:rPr>
              <a:t>Khách đợi hàng chục giây nhưng không được xử lý</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Sóng Tải Spike Bùng Nổ
</a:t>
            </a:r>
            <a:pPr indent="0" marL="0">
              <a:buNone/>
            </a:pPr>
            <a:r>
              <a:rPr lang="en-US" sz="1220" dirty="0">
                <a:solidFill>
                  <a:srgbClr val="334155"/>
                </a:solidFill>
              </a:rPr>
              <a:t>Khi hàng chục ngàn yêu cầu ập vào, bộ nhớ Heap bị quá tải dẫn đến tràn RAM.</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Sập Kéo Theo Toàn Bộ
</a:t>
            </a:r>
            <a:pPr indent="0" marL="0">
              <a:buNone/>
            </a:pPr>
            <a:r>
              <a:rPr lang="en-US" sz="1220" dirty="0">
                <a:solidFill>
                  <a:srgbClr val="334155"/>
                </a:solidFill>
              </a:rPr>
              <a:t>Máy chủ sập khiến mọi khách hàng đang được phục vụ đều mất kết nối đột ngột.</a:t>
            </a:r>
            <a:endParaRPr lang="en-US" sz="1400" dirty="0"/>
          </a:p>
        </p:txBody>
      </p:sp>
      <p:sp>
        <p:nvSpPr>
          <p:cNvPr id="26" name="Shape 24"/>
          <p:cNvSpPr/>
          <p:nvPr/>
        </p:nvSpPr>
        <p:spPr>
          <a:xfrm>
            <a:off x="777240" y="5084064"/>
            <a:ext cx="4956048" cy="365760"/>
          </a:xfrm>
          <a:prstGeom prst="roundRect">
            <a:avLst>
              <a:gd name="adj" fmla="val 20000"/>
            </a:avLst>
          </a:prstGeom>
          <a:solidFill>
            <a:srgbClr val="FFF1F2"/>
          </a:solidFill>
          <a:ln w="12700">
            <a:solidFill>
              <a:srgbClr val="FECDD3"/>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E11D48"/>
                </a:solidFill>
                <a:latin typeface="Arial" pitchFamily="34" charset="0"/>
                <a:ea typeface="Arial" pitchFamily="34" charset="-122"/>
                <a:cs typeface="Arial" pitchFamily="34" charset="-120"/>
              </a:rPr>
              <a:t>🛑 Sai lầm lớn: Sử dụng hàng đợi không giới hạn (Unbounded) trong sản phẩm thực tế</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059669"/>
          </a:solidFill>
          <a:ln w="12700">
            <a:solidFill>
              <a:srgbClr val="059669"/>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Van Xả Áp Chủ Động (Fail-Fast)</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Cơ chế từ chối nhanh cứu sống máy chủ</a:t>
            </a:r>
            <a:endParaRPr lang="en-US" sz="1250" dirty="0"/>
          </a:p>
        </p:txBody>
      </p:sp>
      <p:sp>
        <p:nvSpPr>
          <p:cNvPr id="32" name="Shape 30"/>
          <p:cNvSpPr/>
          <p:nvPr/>
        </p:nvSpPr>
        <p:spPr>
          <a:xfrm>
            <a:off x="9948672" y="1719072"/>
            <a:ext cx="1463040" cy="256032"/>
          </a:xfrm>
          <a:prstGeom prst="roundRect">
            <a:avLst>
              <a:gd name="adj" fmla="val 35714"/>
            </a:avLst>
          </a:prstGeom>
          <a:solidFill>
            <a:srgbClr val="ECFDF5"/>
          </a:solidFill>
          <a:ln w="12700">
            <a:solidFill>
              <a:srgbClr val="A7F3D0"/>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HTTP 503 SERVICE UNAVAILABLE</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059669"/>
                </a:solidFill>
              </a:rPr>
              <a:t>0 ms Trễ
</a:t>
            </a:r>
            <a:pPr indent="0" marL="0">
              <a:buNone/>
            </a:pPr>
            <a:r>
              <a:rPr lang="en-US" sz="1150" b="1" dirty="0">
                <a:solidFill>
                  <a:srgbClr val="334155"/>
                </a:solidFill>
              </a:rPr>
              <a:t>Từ chối dứt khoát ngay lập tức khi ghế chờ đầy</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059669"/>
                </a:solidFill>
              </a:rPr>
              <a:t>100% Sống
</a:t>
            </a:r>
            <a:pPr indent="0" marL="0">
              <a:buNone/>
            </a:pPr>
            <a:r>
              <a:rPr lang="en-US" sz="1150" b="1" dirty="0">
                <a:solidFill>
                  <a:srgbClr val="334155"/>
                </a:solidFill>
              </a:rPr>
              <a:t>Bảo vệ an toàn tuyệt đối các khách đang phục vụ</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Từ Chối Lịch Sự (Fail-Fast)
</a:t>
            </a:r>
            <a:pPr indent="0" marL="0">
              <a:buNone/>
            </a:pPr>
            <a:r>
              <a:rPr lang="en-US" sz="1220" dirty="0">
                <a:solidFill>
                  <a:srgbClr val="334155"/>
                </a:solidFill>
              </a:rPr>
              <a:t>Trả về mã HTTP 503 cùng hẹn thử lại sau 2s, giúp client biết đường xoay xở.</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Pháo Đài Phòng Thủ
</a:t>
            </a:r>
            <a:pPr indent="0" marL="0">
              <a:buNone/>
            </a:pPr>
            <a:r>
              <a:rPr lang="en-US" sz="1220" dirty="0">
                <a:solidFill>
                  <a:srgbClr val="334155"/>
                </a:solidFill>
              </a:rPr>
              <a:t>Hy sinh từ chối yêu cầu vượt ngưỡng để giữ cho máy chủ luôn duy trì nhịp thở.</a:t>
            </a:r>
            <a:endParaRPr lang="en-US" sz="1400" dirty="0"/>
          </a:p>
        </p:txBody>
      </p:sp>
      <p:sp>
        <p:nvSpPr>
          <p:cNvPr id="43" name="Shape 41"/>
          <p:cNvSpPr/>
          <p:nvPr/>
        </p:nvSpPr>
        <p:spPr>
          <a:xfrm>
            <a:off x="6455664" y="5084064"/>
            <a:ext cx="4956048" cy="365760"/>
          </a:xfrm>
          <a:prstGeom prst="roundRect">
            <a:avLst>
              <a:gd name="adj" fmla="val 20000"/>
            </a:avLst>
          </a:prstGeom>
          <a:solidFill>
            <a:srgbClr val="ECFDF5"/>
          </a:solidFill>
          <a:ln w="12700">
            <a:solidFill>
              <a:srgbClr val="A7F3D0"/>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059669"/>
                </a:solidFill>
                <a:latin typeface="Arial" pitchFamily="34" charset="0"/>
                <a:ea typeface="Arial" pitchFamily="34" charset="-122"/>
                <a:cs typeface="Arial" pitchFamily="34" charset="-120"/>
              </a:rPr>
              <a:t>🚀 Giá trị kỹ thuật: Triệt tiêu nguy cơ sập máy chủ trước các cuộc tấn công đột biến</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TRIẾT LÝ BACKPRESSURE: Từ chối nhanh (Fail-Fast) một số yêu cầu văn minh hơn nhiều so với việc nhận bừa để rồi sập toàn bộ hệ thống!</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ĐIỂM SÁNG KỸ THUẬT 30% • TỰ CHỦ CÔNG NGHỆ</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5: Tự Thiết Kế Thread Pool Từ Con Số 0</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Điểm sáng kỹ thuật: Tự lập trình trọn vẹn giải thuật và cơ chế điều phối không dùng thư viện có sẵn</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10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10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7C3AED"/>
          </a:solidFill>
          <a:ln w="12700">
            <a:solidFill>
              <a:srgbClr val="7C3AED"/>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Băng Chuyền Vòng Khép Kín O(1)</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Thuật toán mảng vòng tối ưu bộ nhớ không dùng thư viện ngoài</a:t>
            </a:r>
            <a:endParaRPr lang="en-US" sz="1250" dirty="0"/>
          </a:p>
        </p:txBody>
      </p:sp>
      <p:sp>
        <p:nvSpPr>
          <p:cNvPr id="15" name="Shape 13"/>
          <p:cNvSpPr/>
          <p:nvPr/>
        </p:nvSpPr>
        <p:spPr>
          <a:xfrm>
            <a:off x="4270248" y="1719072"/>
            <a:ext cx="1463040" cy="256032"/>
          </a:xfrm>
          <a:prstGeom prst="roundRect">
            <a:avLst>
              <a:gd name="adj" fmla="val 35714"/>
            </a:avLst>
          </a:prstGeom>
          <a:solidFill>
            <a:srgbClr val="FAF5FF"/>
          </a:solidFill>
          <a:ln w="12700">
            <a:solidFill>
              <a:srgbClr val="DDD6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7C3AED"/>
                </a:solidFill>
                <a:latin typeface="Arial" pitchFamily="34" charset="0"/>
                <a:ea typeface="Arial" pitchFamily="34" charset="-122"/>
                <a:cs typeface="Arial" pitchFamily="34" charset="-120"/>
              </a:rPr>
              <a:t>CIRCULAR RING BUFFER</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7C3AED"/>
                </a:solidFill>
              </a:rPr>
              <a:t>O(1) Tốc Độ
</a:t>
            </a:r>
            <a:pPr indent="0" marL="0">
              <a:buNone/>
            </a:pPr>
            <a:r>
              <a:rPr lang="en-US" sz="1150" b="1" dirty="0">
                <a:solidFill>
                  <a:srgbClr val="334155"/>
                </a:solidFill>
              </a:rPr>
              <a:t>Độ phức tạp thêm việc và rút việc tức thì</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7C3AED"/>
                </a:solidFill>
              </a:rPr>
              <a:t>Zero Shift
</a:t>
            </a:r>
            <a:pPr indent="0" marL="0">
              <a:buNone/>
            </a:pPr>
            <a:r>
              <a:rPr lang="en-US" sz="1150" b="1" dirty="0">
                <a:solidFill>
                  <a:srgbClr val="334155"/>
                </a:solidFill>
              </a:rPr>
              <a:t>Không bao giờ phải sao chép hay dịch chuyển mảng</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Cấu Trúc Sushi Vòng Tròn
</a:t>
            </a:r>
            <a:pPr indent="0" marL="0">
              <a:buNone/>
            </a:pPr>
            <a:r>
              <a:rPr lang="en-US" sz="1220" dirty="0">
                <a:solidFill>
                  <a:srgbClr val="334155"/>
                </a:solidFill>
              </a:rPr>
              <a:t>Đầu nạp việc (Head) và đầu rút việc (Tail) xoay vòng khép kín liên tục.</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Đồng Bộ Hóa Đa Luồng
</a:t>
            </a:r>
            <a:pPr indent="0" marL="0">
              <a:buNone/>
            </a:pPr>
            <a:r>
              <a:rPr lang="en-US" sz="1220" dirty="0">
                <a:solidFill>
                  <a:srgbClr val="334155"/>
                </a:solidFill>
              </a:rPr>
              <a:t>Tự xây dựng cơ chế khóa an toàn ngăn chặn tranh chấp dữ liệu giữa các công nhân.</a:t>
            </a:r>
            <a:endParaRPr lang="en-US" sz="1400" dirty="0"/>
          </a:p>
        </p:txBody>
      </p:sp>
      <p:sp>
        <p:nvSpPr>
          <p:cNvPr id="26" name="Shape 24"/>
          <p:cNvSpPr/>
          <p:nvPr/>
        </p:nvSpPr>
        <p:spPr>
          <a:xfrm>
            <a:off x="777240" y="5084064"/>
            <a:ext cx="4956048" cy="365760"/>
          </a:xfrm>
          <a:prstGeom prst="roundRect">
            <a:avLst>
              <a:gd name="adj" fmla="val 20000"/>
            </a:avLst>
          </a:prstGeom>
          <a:solidFill>
            <a:srgbClr val="FAF5FF"/>
          </a:solidFill>
          <a:ln w="12700">
            <a:solidFill>
              <a:srgbClr val="DDD6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7C3AED"/>
                </a:solidFill>
                <a:latin typeface="Arial" pitchFamily="34" charset="0"/>
                <a:ea typeface="Arial" pitchFamily="34" charset="-122"/>
                <a:cs typeface="Arial" pitchFamily="34" charset="-120"/>
              </a:rPr>
              <a:t>✨ Tự chủ công nghệ: Tự lập trình 100% cấu trúc dữ liệu cốt lõi từ đầu</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7C3AED"/>
          </a:solidFill>
          <a:ln w="12700">
            <a:solidFill>
              <a:srgbClr val="7C3AED"/>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Ngủ Đông &amp; Tắt Máy An Toàn</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Tối ưu năng lượng CPU và cơ chế dọn dẹp chuẩn mực</a:t>
            </a:r>
            <a:endParaRPr lang="en-US" sz="1250" dirty="0"/>
          </a:p>
        </p:txBody>
      </p:sp>
      <p:sp>
        <p:nvSpPr>
          <p:cNvPr id="32" name="Shape 30"/>
          <p:cNvSpPr/>
          <p:nvPr/>
        </p:nvSpPr>
        <p:spPr>
          <a:xfrm>
            <a:off x="9948672" y="1719072"/>
            <a:ext cx="1463040" cy="256032"/>
          </a:xfrm>
          <a:prstGeom prst="roundRect">
            <a:avLst>
              <a:gd name="adj" fmla="val 35714"/>
            </a:avLst>
          </a:prstGeom>
          <a:solidFill>
            <a:srgbClr val="FAF5FF"/>
          </a:solidFill>
          <a:ln w="12700">
            <a:solidFill>
              <a:srgbClr val="DDD6FE"/>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7C3AED"/>
                </a:solidFill>
                <a:latin typeface="Arial" pitchFamily="34" charset="0"/>
                <a:ea typeface="Arial" pitchFamily="34" charset="-122"/>
                <a:cs typeface="Arial" pitchFamily="34" charset="-120"/>
              </a:rPr>
              <a:t>GRACEFUL SHUTDOWN</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7C3AED"/>
                </a:solidFill>
              </a:rPr>
              <a:t>0% CPU Rảnh
</a:t>
            </a:r>
            <a:pPr indent="0" marL="0">
              <a:buNone/>
            </a:pPr>
            <a:r>
              <a:rPr lang="en-US" sz="1150" b="1" dirty="0">
                <a:solidFill>
                  <a:srgbClr val="334155"/>
                </a:solidFill>
              </a:rPr>
              <a:t>Luồng tự động ngủ đông khi hàng đợi trống</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7C3AED"/>
                </a:solidFill>
              </a:rPr>
              <a:t>Zero Data Loss
</a:t>
            </a:r>
            <a:pPr indent="0" marL="0">
              <a:buNone/>
            </a:pPr>
            <a:r>
              <a:rPr lang="en-US" sz="1150" b="1" dirty="0">
                <a:solidFill>
                  <a:srgbClr val="334155"/>
                </a:solidFill>
              </a:rPr>
              <a:t>Dừng máy chủ không rơi rớt bất kỳ yêu cầu nào</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Đánh Thức &amp; Ngủ Đông
</a:t>
            </a:r>
            <a:pPr indent="0" marL="0">
              <a:buNone/>
            </a:pPr>
            <a:r>
              <a:rPr lang="en-US" sz="1220" dirty="0">
                <a:solidFill>
                  <a:srgbClr val="334155"/>
                </a:solidFill>
              </a:rPr>
              <a:t>Có việc phát tín hiệu gọi dậy, hết việc tự động ngủ để trả lại 100% CPU.</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Đóng Cửa Chuẩn Mực
</a:t>
            </a:r>
            <a:pPr indent="0" marL="0">
              <a:buNone/>
            </a:pPr>
            <a:r>
              <a:rPr lang="en-US" sz="1220" dirty="0">
                <a:solidFill>
                  <a:srgbClr val="334155"/>
                </a:solidFill>
              </a:rPr>
              <a:t>Đợi toàn bộ công việc dang dở làm xong hoàn toàn mới giải phóng tài nguyên.</a:t>
            </a:r>
            <a:endParaRPr lang="en-US" sz="1400" dirty="0"/>
          </a:p>
        </p:txBody>
      </p:sp>
      <p:sp>
        <p:nvSpPr>
          <p:cNvPr id="43" name="Shape 41"/>
          <p:cNvSpPr/>
          <p:nvPr/>
        </p:nvSpPr>
        <p:spPr>
          <a:xfrm>
            <a:off x="6455664" y="5084064"/>
            <a:ext cx="4956048" cy="365760"/>
          </a:xfrm>
          <a:prstGeom prst="roundRect">
            <a:avLst>
              <a:gd name="adj" fmla="val 20000"/>
            </a:avLst>
          </a:prstGeom>
          <a:solidFill>
            <a:srgbClr val="FAF5FF"/>
          </a:solidFill>
          <a:ln w="12700">
            <a:solidFill>
              <a:srgbClr val="DDD6FE"/>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7C3AED"/>
                </a:solidFill>
                <a:latin typeface="Arial" pitchFamily="34" charset="0"/>
                <a:ea typeface="Arial" pitchFamily="34" charset="-122"/>
                <a:cs typeface="Arial" pitchFamily="34" charset="-120"/>
              </a:rPr>
              <a:t>🎓 Bảo vệ đồ án: Minh chứng khả năng làm chủ giải thuật đa luồng tầng thấp trước hội đồng</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ĐIỂM SÁNG 30%: Việc tự cài đặt thành công Thread Pool chứng minh sinh viên hiểu sâu sắc cơ chế điều phối luồng ở tầng gốc rễ chứ không chỉ biết gọi thư viện có sẵn!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ĐỈNH CAO HIGH-CONCURRENCY HIỆN ĐẠI</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4: Đỉnh Cao Java 21 Virtual Threads (Project Loom)</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Cơ chế "Bàn làm việc dùng chung" — Cuộc cách mạng giải phóng hiệu năng mạng</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11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11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059669"/>
          </a:solidFill>
          <a:ln w="12700">
            <a:solidFill>
              <a:srgbClr val="059669"/>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Cách Mạng Luồng Ảo Siêu Nhẹ</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Đột phá kiến trúc Java 21 Project Loom</a:t>
            </a:r>
            <a:endParaRPr lang="en-US" sz="1250" dirty="0"/>
          </a:p>
        </p:txBody>
      </p:sp>
      <p:sp>
        <p:nvSpPr>
          <p:cNvPr id="15" name="Shape 13"/>
          <p:cNvSpPr/>
          <p:nvPr/>
        </p:nvSpPr>
        <p:spPr>
          <a:xfrm>
            <a:off x="4270248" y="1719072"/>
            <a:ext cx="1463040" cy="256032"/>
          </a:xfrm>
          <a:prstGeom prst="roundRect">
            <a:avLst>
              <a:gd name="adj" fmla="val 35714"/>
            </a:avLst>
          </a:prstGeom>
          <a:solidFill>
            <a:srgbClr val="ECFDF5"/>
          </a:solidFill>
          <a:ln w="12700">
            <a:solidFill>
              <a:srgbClr val="A7F3D0"/>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TIẾT KIỆM BỘ NHỚ x1000</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059669"/>
                </a:solidFill>
              </a:rPr>
              <a:t>~1 KB / Luồng
</a:t>
            </a:r>
            <a:pPr indent="0" marL="0">
              <a:buNone/>
            </a:pPr>
            <a:r>
              <a:rPr lang="en-US" sz="1150" b="1" dirty="0">
                <a:solidFill>
                  <a:srgbClr val="334155"/>
                </a:solidFill>
              </a:rPr>
              <a:t>Nhẹ gấp 1,000 lần so với 1MB của luồng OS</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059669"/>
                </a:solidFill>
              </a:rPr>
              <a:t>1,000,000+
</a:t>
            </a:r>
            <a:pPr indent="0" marL="0">
              <a:buNone/>
            </a:pPr>
            <a:r>
              <a:rPr lang="en-US" sz="1150" b="1" dirty="0">
                <a:solidFill>
                  <a:srgbClr val="334155"/>
                </a:solidFill>
              </a:rPr>
              <a:t>Khởi tạo hàng triệu luồng ảo thoải mái trên Heap</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Điều Phối Tầng JVM
</a:t>
            </a:r>
            <a:pPr indent="0" marL="0">
              <a:buNone/>
            </a:pPr>
            <a:r>
              <a:rPr lang="en-US" sz="1220" dirty="0">
                <a:solidFill>
                  <a:srgbClr val="334155"/>
                </a:solidFill>
              </a:rPr>
              <a:t>Máy ảo Java tự quản lý luồng trong User-Space, không phụ thuộc Kernel OS.</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Khởi Tạo Tức Thì
</a:t>
            </a:r>
            <a:pPr indent="0" marL="0">
              <a:buNone/>
            </a:pPr>
            <a:r>
              <a:rPr lang="en-US" sz="1220" dirty="0">
                <a:solidFill>
                  <a:srgbClr val="334155"/>
                </a:solidFill>
              </a:rPr>
              <a:t>Sinh 10,000 luồng ảo nhẹ và nhanh tương đương tạo 10,000 đối tượng Java thông thường.</a:t>
            </a:r>
            <a:endParaRPr lang="en-US" sz="1400" dirty="0"/>
          </a:p>
        </p:txBody>
      </p:sp>
      <p:sp>
        <p:nvSpPr>
          <p:cNvPr id="26" name="Shape 24"/>
          <p:cNvSpPr/>
          <p:nvPr/>
        </p:nvSpPr>
        <p:spPr>
          <a:xfrm>
            <a:off x="777240" y="5084064"/>
            <a:ext cx="4956048" cy="365760"/>
          </a:xfrm>
          <a:prstGeom prst="roundRect">
            <a:avLst>
              <a:gd name="adj" fmla="val 20000"/>
            </a:avLst>
          </a:prstGeom>
          <a:solidFill>
            <a:srgbClr val="ECFDF5"/>
          </a:solidFill>
          <a:ln w="12700">
            <a:solidFill>
              <a:srgbClr val="A7F3D0"/>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059669"/>
                </a:solidFill>
                <a:latin typeface="Arial" pitchFamily="34" charset="0"/>
                <a:ea typeface="Arial" pitchFamily="34" charset="-122"/>
                <a:cs typeface="Arial" pitchFamily="34" charset="-120"/>
              </a:rPr>
              <a:t>🚀 Bứt phá: Xóa bỏ hoàn toàn rào cản chi phí bộ nhớ của mô hình Thread-Per-Connection cũ</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059669"/>
          </a:solidFill>
          <a:ln w="12700">
            <a:solidFill>
              <a:srgbClr val="059669"/>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Cơ Chế Gắn/Nhả (Mount / Unmount)</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Tối ưu hóa thời gian chờ mạng đến mức tối đa</a:t>
            </a:r>
            <a:endParaRPr lang="en-US" sz="1250" dirty="0"/>
          </a:p>
        </p:txBody>
      </p:sp>
      <p:sp>
        <p:nvSpPr>
          <p:cNvPr id="32" name="Shape 30"/>
          <p:cNvSpPr/>
          <p:nvPr/>
        </p:nvSpPr>
        <p:spPr>
          <a:xfrm>
            <a:off x="9948672" y="1719072"/>
            <a:ext cx="1463040" cy="256032"/>
          </a:xfrm>
          <a:prstGeom prst="roundRect">
            <a:avLst>
              <a:gd name="adj" fmla="val 35714"/>
            </a:avLst>
          </a:prstGeom>
          <a:solidFill>
            <a:srgbClr val="ECFDF5"/>
          </a:solidFill>
          <a:ln w="12700">
            <a:solidFill>
              <a:srgbClr val="A7F3D0"/>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VÔ ĐỊCH THÔNG LƯỢNG</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059669"/>
                </a:solidFill>
              </a:rPr>
              <a:t>724+ RPS
</a:t>
            </a:r>
            <a:pPr indent="0" marL="0">
              <a:buNone/>
            </a:pPr>
            <a:r>
              <a:rPr lang="en-US" sz="1150" b="1" dirty="0">
                <a:solidFill>
                  <a:srgbClr val="334155"/>
                </a:solidFill>
              </a:rPr>
              <a:t>Thông lượng kỷ lục cao nhất toàn bộ đề tài</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059669"/>
                </a:solidFill>
              </a:rPr>
              <a:t>&lt; 75 ms
</a:t>
            </a:r>
            <a:pPr indent="0" marL="0">
              <a:buNone/>
            </a:pPr>
            <a:r>
              <a:rPr lang="en-US" sz="1150" b="1" dirty="0">
                <a:solidFill>
                  <a:srgbClr val="334155"/>
                </a:solidFill>
              </a:rPr>
              <a:t>Độ trễ trung bình cực thấp và đồng đều</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Nhả Lõi Khi Chờ I/O (Unmount)
</a:t>
            </a:r>
            <a:pPr indent="0" marL="0">
              <a:buNone/>
            </a:pPr>
            <a:r>
              <a:rPr lang="en-US" sz="1220" dirty="0">
                <a:solidFill>
                  <a:srgbClr val="334155"/>
                </a:solidFill>
              </a:rPr>
              <a:t>Gặp lệnh chờ mạng 100ms, luồng ảo tự rời bàn và cất trạng thái vào Heap.</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Tiếp Tục Lắp Luồng Mới
</a:t>
            </a:r>
            <a:pPr indent="0" marL="0">
              <a:buNone/>
            </a:pPr>
            <a:r>
              <a:rPr lang="en-US" sz="1220" dirty="0">
                <a:solidFill>
                  <a:srgbClr val="334155"/>
                </a:solidFill>
              </a:rPr>
              <a:t>Lõi CPU vật lý ngay lập tức phục vụ kết nối khác mà không bao giờ phải ngồi chơi.</a:t>
            </a:r>
            <a:endParaRPr lang="en-US" sz="1400" dirty="0"/>
          </a:p>
        </p:txBody>
      </p:sp>
      <p:sp>
        <p:nvSpPr>
          <p:cNvPr id="43" name="Shape 41"/>
          <p:cNvSpPr/>
          <p:nvPr/>
        </p:nvSpPr>
        <p:spPr>
          <a:xfrm>
            <a:off x="6455664" y="5084064"/>
            <a:ext cx="4956048" cy="365760"/>
          </a:xfrm>
          <a:prstGeom prst="roundRect">
            <a:avLst>
              <a:gd name="adj" fmla="val 20000"/>
            </a:avLst>
          </a:prstGeom>
          <a:solidFill>
            <a:srgbClr val="ECFDF5"/>
          </a:solidFill>
          <a:ln w="12700">
            <a:solidFill>
              <a:srgbClr val="A7F3D0"/>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059669"/>
                </a:solidFill>
                <a:latin typeface="Arial" pitchFamily="34" charset="0"/>
                <a:ea typeface="Arial" pitchFamily="34" charset="-122"/>
                <a:cs typeface="Arial" pitchFamily="34" charset="-120"/>
              </a:rPr>
              <a:t>👑 Ngôi vương: Giữ trọn cách viết code đồng bộ đơn giản nhưng đạt hiệu năng phi đồng bộ</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TƯƠNG LAI CÔNG NGHỆ: Virtual Threads chính thức xóa bỏ cuộc giằng co kéo dài 20 năm giữa "Code dễ đọc (Blocking)" và "Hiệu năng cao (Non-blocking/Reactive)"!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HẠ TẦNG GIÁM SÁT</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Hạ Tầng Đo Lường Không Khóa &amp; Web Dashboard</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Giám sát số liệu trực quan theo thời gian thực với chi phí suy hao phần cứng bằng 0</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13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13 / 18</a:t>
            </a:r>
            <a:endParaRPr lang="en-US" sz="110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Đo Lường Không Khóa (Lock-Free)</a:t>
            </a:r>
            <a:endParaRPr lang="en-US" sz="16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Nguyên lý trạm thu phí nhiều làn với Atomic LongAdder</a:t>
            </a:r>
            <a:endParaRPr lang="en-US" sz="12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ZERO OVERHEAD</a:t>
            </a:r>
            <a:endParaRPr lang="en-US" sz="115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2200" b="1" dirty="0">
                <a:solidFill>
                  <a:srgbClr val="1D4ED8"/>
                </a:solidFill>
              </a:rPr>
              <a:t>0 Lock
</a:t>
            </a:r>
            <a:pPr indent="0" marL="0">
              <a:buNone/>
            </a:pPr>
            <a:r>
              <a:rPr lang="en-US" sz="1150" b="1" dirty="0">
                <a:solidFill>
                  <a:srgbClr val="334155"/>
                </a:solidFill>
              </a:rPr>
              <a:t>Không dùng lệnh khóa chặn (Lock-Free CAS)</a:t>
            </a:r>
            <a:endParaRPr lang="en-US" sz="22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2200" b="1" dirty="0">
                <a:solidFill>
                  <a:srgbClr val="1D4ED8"/>
                </a:solidFill>
              </a:rPr>
              <a:t>0.0% Trễ
</a:t>
            </a:r>
            <a:pPr indent="0" marL="0">
              <a:buNone/>
            </a:pPr>
            <a:r>
              <a:rPr lang="en-US" sz="1150" b="1" dirty="0">
                <a:solidFill>
                  <a:srgbClr val="334155"/>
                </a:solidFill>
              </a:rPr>
              <a:t>Đo đạc số liệu không làm chậm luồng xử lý mạng</a:t>
            </a:r>
            <a:endParaRPr lang="en-US" sz="2200" dirty="0"/>
          </a:p>
        </p:txBody>
      </p:sp>
      <p:sp>
        <p:nvSpPr>
          <p:cNvPr id="22" name="Shape 20"/>
          <p:cNvSpPr/>
          <p:nvPr/>
        </p:nvSpPr>
        <p:spPr>
          <a:xfrm>
            <a:off x="777240" y="3145536"/>
            <a:ext cx="4956048" cy="960120"/>
          </a:xfrm>
          <a:prstGeom prst="roundRect">
            <a:avLst>
              <a:gd name="adj" fmla="val 7619"/>
            </a:avLst>
          </a:prstGeom>
          <a:solidFill>
            <a:srgbClr val="F8FAFC"/>
          </a:solidFill>
          <a:ln w="12700">
            <a:solidFill>
              <a:srgbClr val="E2E8F0"/>
            </a:solidFill>
            <a:prstDash val="solid"/>
          </a:ln>
        </p:spPr>
      </p:sp>
      <p:sp>
        <p:nvSpPr>
          <p:cNvPr id="23" name="Text 21"/>
          <p:cNvSpPr/>
          <p:nvPr/>
        </p:nvSpPr>
        <p:spPr>
          <a:xfrm>
            <a:off x="868680"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Trạm Thu Phí Nhiều Làn
</a:t>
            </a:r>
            <a:pPr indent="0" marL="0">
              <a:buNone/>
            </a:pPr>
            <a:r>
              <a:rPr lang="en-US" sz="1220" dirty="0">
                <a:solidFill>
                  <a:srgbClr val="334155"/>
                </a:solidFill>
              </a:rPr>
              <a:t>Mỗi luồng ghi số liệu vào ô nhớ riêng biệt, tránh hoàn toàn tranh chấp biến chung.</a:t>
            </a:r>
            <a:endParaRPr lang="en-US" sz="1400" dirty="0"/>
          </a:p>
        </p:txBody>
      </p:sp>
      <p:sp>
        <p:nvSpPr>
          <p:cNvPr id="24" name="Shape 22"/>
          <p:cNvSpPr/>
          <p:nvPr/>
        </p:nvSpPr>
        <p:spPr>
          <a:xfrm>
            <a:off x="777240" y="4197096"/>
            <a:ext cx="4956048" cy="960120"/>
          </a:xfrm>
          <a:prstGeom prst="roundRect">
            <a:avLst>
              <a:gd name="adj" fmla="val 7619"/>
            </a:avLst>
          </a:prstGeom>
          <a:solidFill>
            <a:srgbClr val="F8FAFC"/>
          </a:solidFill>
          <a:ln w="12700">
            <a:solidFill>
              <a:srgbClr val="E2E8F0"/>
            </a:solidFill>
            <a:prstDash val="solid"/>
          </a:ln>
        </p:spPr>
      </p:sp>
      <p:sp>
        <p:nvSpPr>
          <p:cNvPr id="25" name="Text 23"/>
          <p:cNvSpPr/>
          <p:nvPr/>
        </p:nvSpPr>
        <p:spPr>
          <a:xfrm>
            <a:off x="868680"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Đo Trực Tiếp Từ OS Kernel
</a:t>
            </a:r>
            <a:pPr indent="0" marL="0">
              <a:buNone/>
            </a:pPr>
            <a:r>
              <a:rPr lang="en-US" sz="1220" dirty="0">
                <a:solidFill>
                  <a:srgbClr val="334155"/>
                </a:solidFill>
              </a:rPr>
              <a:t>Trích xuất số lượng luồng thực tế của hệ điều hành, RAM vật lý và xung nhịp CPU.</a:t>
            </a:r>
            <a:endParaRPr lang="en-US" sz="14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1150" b="1" dirty="0">
                <a:solidFill>
                  <a:srgbClr val="1D4ED8"/>
                </a:solidFill>
                <a:latin typeface="Arial" pitchFamily="34" charset="0"/>
                <a:ea typeface="Arial" pitchFamily="34" charset="-122"/>
                <a:cs typeface="Arial" pitchFamily="34" charset="-120"/>
              </a:rPr>
              <a:t>✨ Chính xác: Số liệu đo lường trung thực tuyệt đối mà không bóp méo hiệu năng</a:t>
            </a:r>
            <a:endParaRPr lang="en-US" sz="115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059669"/>
          </a:solidFill>
          <a:ln w="12700">
            <a:solidFill>
              <a:srgbClr val="059669"/>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Web Dashboard Canvas 60 FPS</a:t>
            </a:r>
            <a:endParaRPr lang="en-US" sz="16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1250" b="1" dirty="0">
                <a:solidFill>
                  <a:srgbClr val="334155"/>
                </a:solidFill>
                <a:latin typeface="Arial" pitchFamily="34" charset="0"/>
                <a:ea typeface="Arial" pitchFamily="34" charset="-122"/>
                <a:cs typeface="Arial" pitchFamily="34" charset="-120"/>
              </a:rPr>
              <a:t>Giao diện điều khiển và giám sát trực quan thời gian thực</a:t>
            </a:r>
            <a:endParaRPr lang="en-US" sz="1250" dirty="0"/>
          </a:p>
        </p:txBody>
      </p:sp>
      <p:sp>
        <p:nvSpPr>
          <p:cNvPr id="32" name="Shape 30"/>
          <p:cNvSpPr/>
          <p:nvPr/>
        </p:nvSpPr>
        <p:spPr>
          <a:xfrm>
            <a:off x="9948672" y="1719072"/>
            <a:ext cx="1463040" cy="256032"/>
          </a:xfrm>
          <a:prstGeom prst="roundRect">
            <a:avLst>
              <a:gd name="adj" fmla="val 35714"/>
            </a:avLst>
          </a:prstGeom>
          <a:solidFill>
            <a:srgbClr val="ECFDF5"/>
          </a:solidFill>
          <a:ln w="12700">
            <a:solidFill>
              <a:srgbClr val="A7F3D0"/>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REAL-TIME MONITOR</a:t>
            </a:r>
            <a:endParaRPr lang="en-US" sz="115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2200" b="1" dirty="0">
                <a:solidFill>
                  <a:srgbClr val="059669"/>
                </a:solidFill>
              </a:rPr>
              <a:t>60 FPS
</a:t>
            </a:r>
            <a:pPr indent="0" marL="0">
              <a:buNone/>
            </a:pPr>
            <a:r>
              <a:rPr lang="en-US" sz="1150" b="1" dirty="0">
                <a:solidFill>
                  <a:srgbClr val="334155"/>
                </a:solidFill>
              </a:rPr>
              <a:t>Động cơ Canvas vẽ biểu đồ sóng mượt mà</a:t>
            </a:r>
            <a:endParaRPr lang="en-US" sz="22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2200" b="1" dirty="0">
                <a:solidFill>
                  <a:srgbClr val="059669"/>
                </a:solidFill>
              </a:rPr>
              <a:t>500 ms
</a:t>
            </a:r>
            <a:pPr indent="0" marL="0">
              <a:buNone/>
            </a:pPr>
            <a:r>
              <a:rPr lang="en-US" sz="1150" b="1" dirty="0">
                <a:solidFill>
                  <a:srgbClr val="334155"/>
                </a:solidFill>
              </a:rPr>
              <a:t>Tần suất làm mới dữ liệu tự động liên tục</a:t>
            </a:r>
            <a:endParaRPr lang="en-US" sz="2200" dirty="0"/>
          </a:p>
        </p:txBody>
      </p:sp>
      <p:sp>
        <p:nvSpPr>
          <p:cNvPr id="39" name="Shape 37"/>
          <p:cNvSpPr/>
          <p:nvPr/>
        </p:nvSpPr>
        <p:spPr>
          <a:xfrm>
            <a:off x="6455664" y="3145536"/>
            <a:ext cx="4956048" cy="960120"/>
          </a:xfrm>
          <a:prstGeom prst="roundRect">
            <a:avLst>
              <a:gd name="adj" fmla="val 7619"/>
            </a:avLst>
          </a:prstGeom>
          <a:solidFill>
            <a:srgbClr val="F8FAFC"/>
          </a:solidFill>
          <a:ln w="12700">
            <a:solidFill>
              <a:srgbClr val="E2E8F0"/>
            </a:solidFill>
            <a:prstDash val="solid"/>
          </a:ln>
        </p:spPr>
      </p:sp>
      <p:sp>
        <p:nvSpPr>
          <p:cNvPr id="40" name="Text 38"/>
          <p:cNvSpPr/>
          <p:nvPr/>
        </p:nvSpPr>
        <p:spPr>
          <a:xfrm>
            <a:off x="6547104" y="321868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4 Biểu Đồ Sóng Động
</a:t>
            </a:r>
            <a:pPr indent="0" marL="0">
              <a:buNone/>
            </a:pPr>
            <a:r>
              <a:rPr lang="en-US" sz="1220" dirty="0">
                <a:solidFill>
                  <a:srgbClr val="334155"/>
                </a:solidFill>
              </a:rPr>
              <a:t>Theo dõi đồng thời: Số kết nối, Luồng OS, Độ trễ mạng và Mức ngốn CPU máy chủ.</a:t>
            </a:r>
            <a:endParaRPr lang="en-US" sz="1400" dirty="0"/>
          </a:p>
        </p:txBody>
      </p:sp>
      <p:sp>
        <p:nvSpPr>
          <p:cNvPr id="41" name="Shape 39"/>
          <p:cNvSpPr/>
          <p:nvPr/>
        </p:nvSpPr>
        <p:spPr>
          <a:xfrm>
            <a:off x="6455664" y="4197096"/>
            <a:ext cx="4956048" cy="960120"/>
          </a:xfrm>
          <a:prstGeom prst="roundRect">
            <a:avLst>
              <a:gd name="adj" fmla="val 7619"/>
            </a:avLst>
          </a:prstGeom>
          <a:solidFill>
            <a:srgbClr val="F8FAFC"/>
          </a:solidFill>
          <a:ln w="12700">
            <a:solidFill>
              <a:srgbClr val="E2E8F0"/>
            </a:solidFill>
            <a:prstDash val="solid"/>
          </a:ln>
        </p:spPr>
      </p:sp>
      <p:sp>
        <p:nvSpPr>
          <p:cNvPr id="42" name="Text 40"/>
          <p:cNvSpPr/>
          <p:nvPr/>
        </p:nvSpPr>
        <p:spPr>
          <a:xfrm>
            <a:off x="6547104" y="4270248"/>
            <a:ext cx="4773168" cy="813816"/>
          </a:xfrm>
          <a:prstGeom prst="rect">
            <a:avLst/>
          </a:prstGeom>
          <a:noFill/>
          <a:ln/>
        </p:spPr>
        <p:txBody>
          <a:bodyPr wrap="square" lIns="25400" tIns="76200" rIns="76200" bIns="25400" rtlCol="0" anchor="ctr"/>
          <a:lstStyle/>
          <a:p>
            <a:pPr indent="0" marL="0">
              <a:buNone/>
            </a:pPr>
            <a:r>
              <a:rPr lang="en-US" sz="1400" b="1" dirty="0">
                <a:solidFill>
                  <a:srgbClr val="0F172A"/>
                </a:solidFill>
              </a:rPr>
              <a:t>🎮  Bàn Điều Khiển Bắn Tải
</a:t>
            </a:r>
            <a:pPr indent="0" marL="0">
              <a:buNone/>
            </a:pPr>
            <a:r>
              <a:rPr lang="en-US" sz="1220" dirty="0">
                <a:solidFill>
                  <a:srgbClr val="334155"/>
                </a:solidFill>
              </a:rPr>
              <a:t>Nút bấm kích hoạt tải tức thì, mô phỏng mạng trễ và tải nặng CPU ngay trên web.</a:t>
            </a:r>
            <a:endParaRPr lang="en-US" sz="1400" dirty="0"/>
          </a:p>
        </p:txBody>
      </p:sp>
      <p:sp>
        <p:nvSpPr>
          <p:cNvPr id="43" name="Shape 41"/>
          <p:cNvSpPr/>
          <p:nvPr/>
        </p:nvSpPr>
        <p:spPr>
          <a:xfrm>
            <a:off x="6455664" y="5084064"/>
            <a:ext cx="4956048" cy="365760"/>
          </a:xfrm>
          <a:prstGeom prst="roundRect">
            <a:avLst>
              <a:gd name="adj" fmla="val 20000"/>
            </a:avLst>
          </a:prstGeom>
          <a:solidFill>
            <a:srgbClr val="ECFDF5"/>
          </a:solidFill>
          <a:ln w="12700">
            <a:solidFill>
              <a:srgbClr val="A7F3D0"/>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1150" b="1" dirty="0">
                <a:solidFill>
                  <a:srgbClr val="059669"/>
                </a:solidFill>
                <a:latin typeface="Arial" pitchFamily="34" charset="0"/>
                <a:ea typeface="Arial" pitchFamily="34" charset="-122"/>
                <a:cs typeface="Arial" pitchFamily="34" charset="-120"/>
              </a:rPr>
              <a:t>🚀 Trực quan: Biến các khái niệm đa luồng vô hình thành biểu đồ sóng chuyển động sống động</a:t>
            </a:r>
            <a:endParaRPr lang="en-US" sz="115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GIẢI PHÁP ĐO ĐẠC: Hệ thống giám sát được xây dựng hoàn toàn bằng Vanilla JS + Canvas + Server-Sent Events/REST, vận hành tự chủ 100% không cần cài đặt thêm phần mềm giám sát ngoài!</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KIẾN TRÚC ĐỀ TÀI</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Tổng Quan 5 Mô Hình Luồng Đối Đầu Trong Dự Án</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Bản đồ kiến trúc 5 chiến lược xử lý kết nối Socket được cài đặt độc lập</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05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05 / 18</a:t>
            </a:r>
            <a:endParaRPr lang="en-US" sz="1100" dirty="0"/>
          </a:p>
        </p:txBody>
      </p:sp>
      <p:sp>
        <p:nvSpPr>
          <p:cNvPr id="11" name="Shape 9"/>
          <p:cNvSpPr/>
          <p:nvPr/>
        </p:nvSpPr>
        <p:spPr>
          <a:xfrm>
            <a:off x="1828800" y="1554480"/>
            <a:ext cx="8531352" cy="548640"/>
          </a:xfrm>
          <a:prstGeom prst="roundRect">
            <a:avLst>
              <a:gd name="adj" fmla="val 16667"/>
            </a:avLst>
          </a:prstGeom>
          <a:solidFill>
            <a:srgbClr val="1D4ED8"/>
          </a:solidFill>
          <a:ln w="12700">
            <a:solidFill>
              <a:srgbClr val="1E40AF"/>
            </a:solidFill>
            <a:prstDash val="solid"/>
          </a:ln>
        </p:spPr>
      </p:sp>
      <p:sp>
        <p:nvSpPr>
          <p:cNvPr id="12" name="Text 10"/>
          <p:cNvSpPr/>
          <p:nvPr/>
        </p:nvSpPr>
        <p:spPr>
          <a:xfrm>
            <a:off x="1828800" y="1554480"/>
            <a:ext cx="8531352"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LUỒNG KẾT NỐI MẠNG ĐỒNG THỜI TỪ CLIENTS (Hàng nghìn kết nối Socket TCP)</a:t>
            </a:r>
            <a:endParaRPr lang="en-US" sz="1400" dirty="0"/>
          </a:p>
        </p:txBody>
      </p:sp>
      <p:sp>
        <p:nvSpPr>
          <p:cNvPr id="13" name="Text 11"/>
          <p:cNvSpPr/>
          <p:nvPr/>
        </p:nvSpPr>
        <p:spPr>
          <a:xfrm>
            <a:off x="1828800" y="2176272"/>
            <a:ext cx="8531352" cy="320040"/>
          </a:xfrm>
          <a:prstGeom prst="rect">
            <a:avLst/>
          </a:prstGeom>
          <a:noFill/>
          <a:ln/>
        </p:spPr>
        <p:txBody>
          <a:bodyPr wrap="square" rtlCol="0" anchor="ctr"/>
          <a:lstStyle/>
          <a:p>
            <a:pPr algn="ctr" indent="0" marL="0">
              <a:buNone/>
            </a:pPr>
            <a:r>
              <a:rPr lang="en-US" sz="1250" b="1" dirty="0">
                <a:solidFill>
                  <a:srgbClr val="475569"/>
                </a:solidFill>
                <a:latin typeface="Arial" pitchFamily="34" charset="0"/>
                <a:ea typeface="Arial" pitchFamily="34" charset="-122"/>
                <a:cs typeface="Arial" pitchFamily="34" charset="-120"/>
              </a:rPr>
              <a:t>▼  Phân nhánh chiến lược điều phối 5 kiến trúc luồng  ▼</a:t>
            </a:r>
            <a:endParaRPr lang="en-US" sz="1250" dirty="0"/>
          </a:p>
        </p:txBody>
      </p:sp>
      <p:sp>
        <p:nvSpPr>
          <p:cNvPr id="14" name="Shape 12"/>
          <p:cNvSpPr/>
          <p:nvPr/>
        </p:nvSpPr>
        <p:spPr>
          <a:xfrm>
            <a:off x="548640" y="2560320"/>
            <a:ext cx="2066544" cy="2971800"/>
          </a:xfrm>
          <a:prstGeom prst="roundRect">
            <a:avLst>
              <a:gd name="adj" fmla="val 4425"/>
            </a:avLst>
          </a:prstGeom>
          <a:solidFill>
            <a:srgbClr val="F8FAFC"/>
          </a:solidFill>
          <a:ln w="25400">
            <a:solidFill>
              <a:srgbClr val="64748B"/>
            </a:solidFill>
            <a:prstDash val="solid"/>
          </a:ln>
        </p:spPr>
      </p:sp>
      <p:sp>
        <p:nvSpPr>
          <p:cNvPr id="15" name="Shape 13"/>
          <p:cNvSpPr/>
          <p:nvPr/>
        </p:nvSpPr>
        <p:spPr>
          <a:xfrm>
            <a:off x="822960" y="2697480"/>
            <a:ext cx="1517904" cy="256032"/>
          </a:xfrm>
          <a:prstGeom prst="roundRect">
            <a:avLst>
              <a:gd name="adj" fmla="val 28571"/>
            </a:avLst>
          </a:prstGeom>
          <a:solidFill>
            <a:srgbClr val="FFFFFF"/>
          </a:solidFill>
          <a:ln w="12700">
            <a:solidFill>
              <a:srgbClr val="64748B"/>
            </a:solidFill>
            <a:prstDash val="solid"/>
          </a:ln>
        </p:spPr>
      </p:sp>
      <p:sp>
        <p:nvSpPr>
          <p:cNvPr id="16" name="Text 14"/>
          <p:cNvSpPr/>
          <p:nvPr/>
        </p:nvSpPr>
        <p:spPr>
          <a:xfrm>
            <a:off x="822960" y="2697480"/>
            <a:ext cx="1517904" cy="256032"/>
          </a:xfrm>
          <a:prstGeom prst="rect">
            <a:avLst/>
          </a:prstGeom>
          <a:noFill/>
          <a:ln/>
        </p:spPr>
        <p:txBody>
          <a:bodyPr wrap="square" rtlCol="0" anchor="ctr"/>
          <a:lstStyle/>
          <a:p>
            <a:pPr algn="ctr" indent="0" marL="0">
              <a:buNone/>
            </a:pPr>
            <a:r>
              <a:rPr lang="en-US" sz="1100" b="1" dirty="0">
                <a:solidFill>
                  <a:srgbClr val="64748B"/>
                </a:solidFill>
                <a:latin typeface="Arial" pitchFamily="34" charset="0"/>
                <a:ea typeface="Arial" pitchFamily="34" charset="-122"/>
                <a:cs typeface="Arial" pitchFamily="34" charset="-120"/>
              </a:rPr>
              <a:t>MODE 1</a:t>
            </a:r>
            <a:endParaRPr lang="en-US" sz="1100" dirty="0"/>
          </a:p>
        </p:txBody>
      </p:sp>
      <p:sp>
        <p:nvSpPr>
          <p:cNvPr id="17" name="Text 15"/>
          <p:cNvSpPr/>
          <p:nvPr/>
        </p:nvSpPr>
        <p:spPr>
          <a:xfrm>
            <a:off x="685800" y="3035808"/>
            <a:ext cx="1792224" cy="731520"/>
          </a:xfrm>
          <a:prstGeom prst="rect">
            <a:avLst/>
          </a:prstGeom>
          <a:noFill/>
          <a:ln/>
        </p:spPr>
        <p:txBody>
          <a:bodyPr wrap="square" rtlCol="0" anchor="ctr"/>
          <a:lstStyle/>
          <a:p>
            <a:pPr algn="ctr" indent="0" marL="0">
              <a:buNone/>
            </a:pPr>
            <a:r>
              <a:rPr lang="en-US" sz="1450" b="1" dirty="0">
                <a:solidFill>
                  <a:srgbClr val="0F172A"/>
                </a:solidFill>
                <a:latin typeface="Arial" pitchFamily="34" charset="0"/>
                <a:ea typeface="Arial" pitchFamily="34" charset="-122"/>
                <a:cs typeface="Arial" pitchFamily="34" charset="-120"/>
              </a:rPr>
              <a:t>👤</a:t>
            </a:r>
            <a:endParaRPr lang="en-US" sz="1450" dirty="0"/>
          </a:p>
          <a:p>
            <a:pPr algn="ctr" indent="0" marL="0">
              <a:buNone/>
            </a:pPr>
            <a:r>
              <a:rPr lang="en-US" sz="1450" b="1" dirty="0">
                <a:solidFill>
                  <a:srgbClr val="0F172A"/>
                </a:solidFill>
                <a:latin typeface="Arial" pitchFamily="34" charset="0"/>
                <a:ea typeface="Arial" pitchFamily="34" charset="-122"/>
                <a:cs typeface="Arial" pitchFamily="34" charset="-120"/>
              </a:rPr>
              <a:t>Đơn Luồng Tuần Tự</a:t>
            </a:r>
            <a:endParaRPr lang="en-US" sz="1450" dirty="0"/>
          </a:p>
        </p:txBody>
      </p:sp>
      <p:sp>
        <p:nvSpPr>
          <p:cNvPr id="18" name="Text 16"/>
          <p:cNvSpPr/>
          <p:nvPr/>
        </p:nvSpPr>
        <p:spPr>
          <a:xfrm>
            <a:off x="685800" y="3794760"/>
            <a:ext cx="1792224" cy="1005840"/>
          </a:xfrm>
          <a:prstGeom prst="rect">
            <a:avLst/>
          </a:prstGeom>
          <a:noFill/>
          <a:ln/>
        </p:spPr>
        <p:txBody>
          <a:bodyPr wrap="square" rtlCol="0" anchor="t"/>
          <a:lstStyle/>
          <a:p>
            <a:pPr algn="ctr" indent="0" marL="0">
              <a:buNone/>
            </a:pPr>
            <a:r>
              <a:rPr lang="en-US" sz="1150" dirty="0">
                <a:solidFill>
                  <a:srgbClr val="334155"/>
                </a:solidFill>
                <a:latin typeface="Arial" pitchFamily="34" charset="0"/>
                <a:ea typeface="Arial" pitchFamily="34" charset="-122"/>
                <a:cs typeface="Arial" pitchFamily="34" charset="-120"/>
              </a:rPr>
              <a:t>1 luồng duy nhất lặp vòng. Khách sau bị kẹt cứng trong hàng đợi TCP.</a:t>
            </a:r>
            <a:endParaRPr lang="en-US" sz="1150" dirty="0"/>
          </a:p>
        </p:txBody>
      </p:sp>
      <p:sp>
        <p:nvSpPr>
          <p:cNvPr id="19" name="Shape 17"/>
          <p:cNvSpPr/>
          <p:nvPr/>
        </p:nvSpPr>
        <p:spPr>
          <a:xfrm>
            <a:off x="685800" y="5074920"/>
            <a:ext cx="1792224" cy="329184"/>
          </a:xfrm>
          <a:prstGeom prst="roundRect">
            <a:avLst>
              <a:gd name="adj" fmla="val 22222"/>
            </a:avLst>
          </a:prstGeom>
          <a:solidFill>
            <a:srgbClr val="FFFFFF"/>
          </a:solidFill>
          <a:ln w="12700">
            <a:solidFill>
              <a:srgbClr val="64748B"/>
            </a:solidFill>
            <a:prstDash val="solid"/>
          </a:ln>
        </p:spPr>
      </p:sp>
      <p:sp>
        <p:nvSpPr>
          <p:cNvPr id="20" name="Text 18"/>
          <p:cNvSpPr/>
          <p:nvPr/>
        </p:nvSpPr>
        <p:spPr>
          <a:xfrm>
            <a:off x="685800" y="5074920"/>
            <a:ext cx="1792224" cy="329184"/>
          </a:xfrm>
          <a:prstGeom prst="rect">
            <a:avLst/>
          </a:prstGeom>
          <a:noFill/>
          <a:ln/>
        </p:spPr>
        <p:txBody>
          <a:bodyPr wrap="square" rtlCol="0" anchor="ctr"/>
          <a:lstStyle/>
          <a:p>
            <a:pPr algn="ctr" indent="0" marL="0">
              <a:buNone/>
            </a:pPr>
            <a:r>
              <a:rPr lang="en-US" sz="1100" b="1" dirty="0">
                <a:solidFill>
                  <a:srgbClr val="64748B"/>
                </a:solidFill>
                <a:latin typeface="Arial" pitchFamily="34" charset="0"/>
                <a:ea typeface="Arial" pitchFamily="34" charset="-122"/>
                <a:cs typeface="Arial" pitchFamily="34" charset="-120"/>
              </a:rPr>
              <a:t>~9.8 RPS • Nghẽn</a:t>
            </a:r>
            <a:endParaRPr lang="en-US" sz="1100" dirty="0"/>
          </a:p>
        </p:txBody>
      </p:sp>
      <p:sp>
        <p:nvSpPr>
          <p:cNvPr id="21" name="Shape 19"/>
          <p:cNvSpPr/>
          <p:nvPr/>
        </p:nvSpPr>
        <p:spPr>
          <a:xfrm>
            <a:off x="2798064" y="2560320"/>
            <a:ext cx="2066544" cy="2971800"/>
          </a:xfrm>
          <a:prstGeom prst="roundRect">
            <a:avLst>
              <a:gd name="adj" fmla="val 4425"/>
            </a:avLst>
          </a:prstGeom>
          <a:solidFill>
            <a:srgbClr val="FFF5F6"/>
          </a:solidFill>
          <a:ln w="25400">
            <a:solidFill>
              <a:srgbClr val="E11D48"/>
            </a:solidFill>
            <a:prstDash val="solid"/>
          </a:ln>
        </p:spPr>
      </p:sp>
      <p:sp>
        <p:nvSpPr>
          <p:cNvPr id="22" name="Shape 20"/>
          <p:cNvSpPr/>
          <p:nvPr/>
        </p:nvSpPr>
        <p:spPr>
          <a:xfrm>
            <a:off x="3072384" y="2697480"/>
            <a:ext cx="1517904" cy="256032"/>
          </a:xfrm>
          <a:prstGeom prst="roundRect">
            <a:avLst>
              <a:gd name="adj" fmla="val 28571"/>
            </a:avLst>
          </a:prstGeom>
          <a:solidFill>
            <a:srgbClr val="FFFFFF"/>
          </a:solidFill>
          <a:ln w="12700">
            <a:solidFill>
              <a:srgbClr val="E11D48"/>
            </a:solidFill>
            <a:prstDash val="solid"/>
          </a:ln>
        </p:spPr>
      </p:sp>
      <p:sp>
        <p:nvSpPr>
          <p:cNvPr id="23" name="Text 21"/>
          <p:cNvSpPr/>
          <p:nvPr/>
        </p:nvSpPr>
        <p:spPr>
          <a:xfrm>
            <a:off x="3072384" y="2697480"/>
            <a:ext cx="1517904" cy="256032"/>
          </a:xfrm>
          <a:prstGeom prst="rect">
            <a:avLst/>
          </a:prstGeom>
          <a:noFill/>
          <a:ln/>
        </p:spPr>
        <p:txBody>
          <a:bodyPr wrap="square" rtlCol="0" anchor="ctr"/>
          <a:lstStyle/>
          <a:p>
            <a:pPr algn="ctr" indent="0" marL="0">
              <a:buNone/>
            </a:pPr>
            <a:r>
              <a:rPr lang="en-US" sz="1100" b="1" dirty="0">
                <a:solidFill>
                  <a:srgbClr val="E11D48"/>
                </a:solidFill>
                <a:latin typeface="Arial" pitchFamily="34" charset="0"/>
                <a:ea typeface="Arial" pitchFamily="34" charset="-122"/>
                <a:cs typeface="Arial" pitchFamily="34" charset="-120"/>
              </a:rPr>
              <a:t>MODE 2</a:t>
            </a:r>
            <a:endParaRPr lang="en-US" sz="1100" dirty="0"/>
          </a:p>
        </p:txBody>
      </p:sp>
      <p:sp>
        <p:nvSpPr>
          <p:cNvPr id="24" name="Text 22"/>
          <p:cNvSpPr/>
          <p:nvPr/>
        </p:nvSpPr>
        <p:spPr>
          <a:xfrm>
            <a:off x="2935224" y="3035808"/>
            <a:ext cx="1792224" cy="731520"/>
          </a:xfrm>
          <a:prstGeom prst="rect">
            <a:avLst/>
          </a:prstGeom>
          <a:noFill/>
          <a:ln/>
        </p:spPr>
        <p:txBody>
          <a:bodyPr wrap="square" rtlCol="0" anchor="ctr"/>
          <a:lstStyle/>
          <a:p>
            <a:pPr algn="ctr" indent="0" marL="0">
              <a:buNone/>
            </a:pPr>
            <a:r>
              <a:rPr lang="en-US" sz="1450" b="1" dirty="0">
                <a:solidFill>
                  <a:srgbClr val="0F172A"/>
                </a:solidFill>
                <a:latin typeface="Arial" pitchFamily="34" charset="0"/>
                <a:ea typeface="Arial" pitchFamily="34" charset="-122"/>
                <a:cs typeface="Arial" pitchFamily="34" charset="-120"/>
              </a:rPr>
              <a:t>👥</a:t>
            </a:r>
            <a:endParaRPr lang="en-US" sz="1450" dirty="0"/>
          </a:p>
          <a:p>
            <a:pPr algn="ctr" indent="0" marL="0">
              <a:buNone/>
            </a:pPr>
            <a:r>
              <a:rPr lang="en-US" sz="1450" b="1" dirty="0">
                <a:solidFill>
                  <a:srgbClr val="0F172A"/>
                </a:solidFill>
                <a:latin typeface="Arial" pitchFamily="34" charset="0"/>
                <a:ea typeface="Arial" pitchFamily="34" charset="-122"/>
                <a:cs typeface="Arial" pitchFamily="34" charset="-120"/>
              </a:rPr>
              <a:t>Mỗi Kết Nối 1 Luồng</a:t>
            </a:r>
            <a:endParaRPr lang="en-US" sz="1450" dirty="0"/>
          </a:p>
        </p:txBody>
      </p:sp>
      <p:sp>
        <p:nvSpPr>
          <p:cNvPr id="25" name="Text 23"/>
          <p:cNvSpPr/>
          <p:nvPr/>
        </p:nvSpPr>
        <p:spPr>
          <a:xfrm>
            <a:off x="2935224" y="3794760"/>
            <a:ext cx="1792224" cy="1005840"/>
          </a:xfrm>
          <a:prstGeom prst="rect">
            <a:avLst/>
          </a:prstGeom>
          <a:noFill/>
          <a:ln/>
        </p:spPr>
        <p:txBody>
          <a:bodyPr wrap="square" rtlCol="0" anchor="t"/>
          <a:lstStyle/>
          <a:p>
            <a:pPr algn="ctr" indent="0" marL="0">
              <a:buNone/>
            </a:pPr>
            <a:r>
              <a:rPr lang="en-US" sz="1150" dirty="0">
                <a:solidFill>
                  <a:srgbClr val="334155"/>
                </a:solidFill>
                <a:latin typeface="Arial" pitchFamily="34" charset="0"/>
                <a:ea typeface="Arial" pitchFamily="34" charset="-122"/>
                <a:cs typeface="Arial" pitchFamily="34" charset="-120"/>
              </a:rPr>
              <a:t>Mỗi khách tạo 1 luồng OS mới. Tốn 1MB Stack/khách, dễ chạm trần OOM.</a:t>
            </a:r>
            <a:endParaRPr lang="en-US" sz="1150" dirty="0"/>
          </a:p>
        </p:txBody>
      </p:sp>
      <p:sp>
        <p:nvSpPr>
          <p:cNvPr id="26" name="Shape 24"/>
          <p:cNvSpPr/>
          <p:nvPr/>
        </p:nvSpPr>
        <p:spPr>
          <a:xfrm>
            <a:off x="2935224" y="5074920"/>
            <a:ext cx="1792224" cy="329184"/>
          </a:xfrm>
          <a:prstGeom prst="roundRect">
            <a:avLst>
              <a:gd name="adj" fmla="val 22222"/>
            </a:avLst>
          </a:prstGeom>
          <a:solidFill>
            <a:srgbClr val="FFFFFF"/>
          </a:solidFill>
          <a:ln w="12700">
            <a:solidFill>
              <a:srgbClr val="E11D48"/>
            </a:solidFill>
            <a:prstDash val="solid"/>
          </a:ln>
        </p:spPr>
      </p:sp>
      <p:sp>
        <p:nvSpPr>
          <p:cNvPr id="27" name="Text 25"/>
          <p:cNvSpPr/>
          <p:nvPr/>
        </p:nvSpPr>
        <p:spPr>
          <a:xfrm>
            <a:off x="2935224" y="5074920"/>
            <a:ext cx="1792224" cy="329184"/>
          </a:xfrm>
          <a:prstGeom prst="rect">
            <a:avLst/>
          </a:prstGeom>
          <a:noFill/>
          <a:ln/>
        </p:spPr>
        <p:txBody>
          <a:bodyPr wrap="square" rtlCol="0" anchor="ctr"/>
          <a:lstStyle/>
          <a:p>
            <a:pPr algn="ctr" indent="0" marL="0">
              <a:buNone/>
            </a:pPr>
            <a:r>
              <a:rPr lang="en-US" sz="1100" b="1" dirty="0">
                <a:solidFill>
                  <a:srgbClr val="E11D48"/>
                </a:solidFill>
                <a:latin typeface="Arial" pitchFamily="34" charset="0"/>
                <a:ea typeface="Arial" pitchFamily="34" charset="-122"/>
                <a:cs typeface="Arial" pitchFamily="34" charset="-120"/>
              </a:rPr>
              <a:t>~285 RPS • Dễ Sập</a:t>
            </a:r>
            <a:endParaRPr lang="en-US" sz="1100" dirty="0"/>
          </a:p>
        </p:txBody>
      </p:sp>
      <p:sp>
        <p:nvSpPr>
          <p:cNvPr id="28" name="Shape 26"/>
          <p:cNvSpPr/>
          <p:nvPr/>
        </p:nvSpPr>
        <p:spPr>
          <a:xfrm>
            <a:off x="5047488" y="2560320"/>
            <a:ext cx="2066544" cy="2971800"/>
          </a:xfrm>
          <a:prstGeom prst="roundRect">
            <a:avLst>
              <a:gd name="adj" fmla="val 4425"/>
            </a:avLst>
          </a:prstGeom>
          <a:solidFill>
            <a:srgbClr val="FFFBEB"/>
          </a:solidFill>
          <a:ln w="25400">
            <a:solidFill>
              <a:srgbClr val="D97706"/>
            </a:solidFill>
            <a:prstDash val="solid"/>
          </a:ln>
        </p:spPr>
      </p:sp>
      <p:sp>
        <p:nvSpPr>
          <p:cNvPr id="29" name="Shape 27"/>
          <p:cNvSpPr/>
          <p:nvPr/>
        </p:nvSpPr>
        <p:spPr>
          <a:xfrm>
            <a:off x="5321808" y="2697480"/>
            <a:ext cx="1517904" cy="256032"/>
          </a:xfrm>
          <a:prstGeom prst="roundRect">
            <a:avLst>
              <a:gd name="adj" fmla="val 28571"/>
            </a:avLst>
          </a:prstGeom>
          <a:solidFill>
            <a:srgbClr val="FFFFFF"/>
          </a:solidFill>
          <a:ln w="12700">
            <a:solidFill>
              <a:srgbClr val="D97706"/>
            </a:solidFill>
            <a:prstDash val="solid"/>
          </a:ln>
        </p:spPr>
      </p:sp>
      <p:sp>
        <p:nvSpPr>
          <p:cNvPr id="30" name="Text 28"/>
          <p:cNvSpPr/>
          <p:nvPr/>
        </p:nvSpPr>
        <p:spPr>
          <a:xfrm>
            <a:off x="5321808" y="2697480"/>
            <a:ext cx="1517904" cy="256032"/>
          </a:xfrm>
          <a:prstGeom prst="rect">
            <a:avLst/>
          </a:prstGeom>
          <a:noFill/>
          <a:ln/>
        </p:spPr>
        <p:txBody>
          <a:bodyPr wrap="square" rtlCol="0" anchor="ctr"/>
          <a:lstStyle/>
          <a:p>
            <a:pPr algn="ctr" indent="0" marL="0">
              <a:buNone/>
            </a:pPr>
            <a:r>
              <a:rPr lang="en-US" sz="1100" b="1" dirty="0">
                <a:solidFill>
                  <a:srgbClr val="D97706"/>
                </a:solidFill>
                <a:latin typeface="Arial" pitchFamily="34" charset="0"/>
                <a:ea typeface="Arial" pitchFamily="34" charset="-122"/>
                <a:cs typeface="Arial" pitchFamily="34" charset="-120"/>
              </a:rPr>
              <a:t>MODE 3</a:t>
            </a:r>
            <a:endParaRPr lang="en-US" sz="1100" dirty="0"/>
          </a:p>
        </p:txBody>
      </p:sp>
      <p:sp>
        <p:nvSpPr>
          <p:cNvPr id="31" name="Text 29"/>
          <p:cNvSpPr/>
          <p:nvPr/>
        </p:nvSpPr>
        <p:spPr>
          <a:xfrm>
            <a:off x="5184648" y="3035808"/>
            <a:ext cx="1792224" cy="731520"/>
          </a:xfrm>
          <a:prstGeom prst="rect">
            <a:avLst/>
          </a:prstGeom>
          <a:noFill/>
          <a:ln/>
        </p:spPr>
        <p:txBody>
          <a:bodyPr wrap="square" rtlCol="0" anchor="ctr"/>
          <a:lstStyle/>
          <a:p>
            <a:pPr algn="ctr" indent="0" marL="0">
              <a:buNone/>
            </a:pPr>
            <a:r>
              <a:rPr lang="en-US" sz="1450" b="1" dirty="0">
                <a:solidFill>
                  <a:srgbClr val="0F172A"/>
                </a:solidFill>
                <a:latin typeface="Arial" pitchFamily="34" charset="0"/>
                <a:ea typeface="Arial" pitchFamily="34" charset="-122"/>
                <a:cs typeface="Arial" pitchFamily="34" charset="-120"/>
              </a:rPr>
              <a:t>🏢</a:t>
            </a:r>
            <a:endParaRPr lang="en-US" sz="1450" dirty="0"/>
          </a:p>
          <a:p>
            <a:pPr algn="ctr" indent="0" marL="0">
              <a:buNone/>
            </a:pPr>
            <a:r>
              <a:rPr lang="en-US" sz="1450" b="1" dirty="0">
                <a:solidFill>
                  <a:srgbClr val="0F172A"/>
                </a:solidFill>
                <a:latin typeface="Arial" pitchFamily="34" charset="0"/>
                <a:ea typeface="Arial" pitchFamily="34" charset="-122"/>
                <a:cs typeface="Arial" pitchFamily="34" charset="-120"/>
              </a:rPr>
              <a:t>Worker Thread Pool</a:t>
            </a:r>
            <a:endParaRPr lang="en-US" sz="1450" dirty="0"/>
          </a:p>
        </p:txBody>
      </p:sp>
      <p:sp>
        <p:nvSpPr>
          <p:cNvPr id="32" name="Text 30"/>
          <p:cNvSpPr/>
          <p:nvPr/>
        </p:nvSpPr>
        <p:spPr>
          <a:xfrm>
            <a:off x="5184648" y="3794760"/>
            <a:ext cx="1792224" cy="1005840"/>
          </a:xfrm>
          <a:prstGeom prst="rect">
            <a:avLst/>
          </a:prstGeom>
          <a:noFill/>
          <a:ln/>
        </p:spPr>
        <p:txBody>
          <a:bodyPr wrap="square" rtlCol="0" anchor="t"/>
          <a:lstStyle/>
          <a:p>
            <a:pPr algn="ctr" indent="0" marL="0">
              <a:buNone/>
            </a:pPr>
            <a:r>
              <a:rPr lang="en-US" sz="1150" dirty="0">
                <a:solidFill>
                  <a:srgbClr val="334155"/>
                </a:solidFill>
                <a:latin typeface="Arial" pitchFamily="34" charset="0"/>
                <a:ea typeface="Arial" pitchFamily="34" charset="-122"/>
                <a:cs typeface="Arial" pitchFamily="34" charset="-120"/>
              </a:rPr>
              <a:t>16 luồng cố định + Ghế chờ 1,000 chỗ. Bảo vệ máy chủ an toàn tuyệt đối.</a:t>
            </a:r>
            <a:endParaRPr lang="en-US" sz="1150" dirty="0"/>
          </a:p>
        </p:txBody>
      </p:sp>
      <p:sp>
        <p:nvSpPr>
          <p:cNvPr id="33" name="Shape 31"/>
          <p:cNvSpPr/>
          <p:nvPr/>
        </p:nvSpPr>
        <p:spPr>
          <a:xfrm>
            <a:off x="5184648" y="5074920"/>
            <a:ext cx="1792224" cy="329184"/>
          </a:xfrm>
          <a:prstGeom prst="roundRect">
            <a:avLst>
              <a:gd name="adj" fmla="val 22222"/>
            </a:avLst>
          </a:prstGeom>
          <a:solidFill>
            <a:srgbClr val="FFFFFF"/>
          </a:solidFill>
          <a:ln w="12700">
            <a:solidFill>
              <a:srgbClr val="D97706"/>
            </a:solidFill>
            <a:prstDash val="solid"/>
          </a:ln>
        </p:spPr>
      </p:sp>
      <p:sp>
        <p:nvSpPr>
          <p:cNvPr id="34" name="Text 32"/>
          <p:cNvSpPr/>
          <p:nvPr/>
        </p:nvSpPr>
        <p:spPr>
          <a:xfrm>
            <a:off x="5184648" y="5074920"/>
            <a:ext cx="1792224" cy="329184"/>
          </a:xfrm>
          <a:prstGeom prst="rect">
            <a:avLst/>
          </a:prstGeom>
          <a:noFill/>
          <a:ln/>
        </p:spPr>
        <p:txBody>
          <a:bodyPr wrap="square" rtlCol="0" anchor="ctr"/>
          <a:lstStyle/>
          <a:p>
            <a:pPr algn="ctr" indent="0" marL="0">
              <a:buNone/>
            </a:pPr>
            <a:r>
              <a:rPr lang="en-US" sz="1100" b="1" dirty="0">
                <a:solidFill>
                  <a:srgbClr val="D97706"/>
                </a:solidFill>
                <a:latin typeface="Arial" pitchFamily="34" charset="0"/>
                <a:ea typeface="Arial" pitchFamily="34" charset="-122"/>
                <a:cs typeface="Arial" pitchFamily="34" charset="-120"/>
              </a:rPr>
              <a:t>~152 RPS • Ổn Định</a:t>
            </a:r>
            <a:endParaRPr lang="en-US" sz="1100" dirty="0"/>
          </a:p>
        </p:txBody>
      </p:sp>
      <p:sp>
        <p:nvSpPr>
          <p:cNvPr id="35" name="Shape 33"/>
          <p:cNvSpPr/>
          <p:nvPr/>
        </p:nvSpPr>
        <p:spPr>
          <a:xfrm>
            <a:off x="7296912" y="2560320"/>
            <a:ext cx="2066544" cy="2971800"/>
          </a:xfrm>
          <a:prstGeom prst="roundRect">
            <a:avLst>
              <a:gd name="adj" fmla="val 4425"/>
            </a:avLst>
          </a:prstGeom>
          <a:solidFill>
            <a:srgbClr val="FAF5FF"/>
          </a:solidFill>
          <a:ln w="25400">
            <a:solidFill>
              <a:srgbClr val="7C3AED"/>
            </a:solidFill>
            <a:prstDash val="solid"/>
          </a:ln>
        </p:spPr>
      </p:sp>
      <p:sp>
        <p:nvSpPr>
          <p:cNvPr id="36" name="Shape 34"/>
          <p:cNvSpPr/>
          <p:nvPr/>
        </p:nvSpPr>
        <p:spPr>
          <a:xfrm>
            <a:off x="7571232" y="2697480"/>
            <a:ext cx="1517904" cy="256032"/>
          </a:xfrm>
          <a:prstGeom prst="roundRect">
            <a:avLst>
              <a:gd name="adj" fmla="val 28571"/>
            </a:avLst>
          </a:prstGeom>
          <a:solidFill>
            <a:srgbClr val="FFFFFF"/>
          </a:solidFill>
          <a:ln w="12700">
            <a:solidFill>
              <a:srgbClr val="7C3AED"/>
            </a:solidFill>
            <a:prstDash val="solid"/>
          </a:ln>
        </p:spPr>
      </p:sp>
      <p:sp>
        <p:nvSpPr>
          <p:cNvPr id="37" name="Text 35"/>
          <p:cNvSpPr/>
          <p:nvPr/>
        </p:nvSpPr>
        <p:spPr>
          <a:xfrm>
            <a:off x="7571232" y="2697480"/>
            <a:ext cx="1517904" cy="256032"/>
          </a:xfrm>
          <a:prstGeom prst="rect">
            <a:avLst/>
          </a:prstGeom>
          <a:noFill/>
          <a:ln/>
        </p:spPr>
        <p:txBody>
          <a:bodyPr wrap="square" rtlCol="0" anchor="ctr"/>
          <a:lstStyle/>
          <a:p>
            <a:pPr algn="ctr" indent="0" marL="0">
              <a:buNone/>
            </a:pPr>
            <a:r>
              <a:rPr lang="en-US" sz="1100" b="1" dirty="0">
                <a:solidFill>
                  <a:srgbClr val="7C3AED"/>
                </a:solidFill>
                <a:latin typeface="Arial" pitchFamily="34" charset="0"/>
                <a:ea typeface="Arial" pitchFamily="34" charset="-122"/>
                <a:cs typeface="Arial" pitchFamily="34" charset="-120"/>
              </a:rPr>
              <a:t>MODE 5</a:t>
            </a:r>
            <a:endParaRPr lang="en-US" sz="1100" dirty="0"/>
          </a:p>
        </p:txBody>
      </p:sp>
      <p:sp>
        <p:nvSpPr>
          <p:cNvPr id="38" name="Text 36"/>
          <p:cNvSpPr/>
          <p:nvPr/>
        </p:nvSpPr>
        <p:spPr>
          <a:xfrm>
            <a:off x="7434072" y="3035808"/>
            <a:ext cx="1792224" cy="731520"/>
          </a:xfrm>
          <a:prstGeom prst="rect">
            <a:avLst/>
          </a:prstGeom>
          <a:noFill/>
          <a:ln/>
        </p:spPr>
        <p:txBody>
          <a:bodyPr wrap="square" rtlCol="0" anchor="ctr"/>
          <a:lstStyle/>
          <a:p>
            <a:pPr algn="ctr" indent="0" marL="0">
              <a:buNone/>
            </a:pPr>
            <a:r>
              <a:rPr lang="en-US" sz="1450" b="1" dirty="0">
                <a:solidFill>
                  <a:srgbClr val="0F172A"/>
                </a:solidFill>
                <a:latin typeface="Arial" pitchFamily="34" charset="0"/>
                <a:ea typeface="Arial" pitchFamily="34" charset="-122"/>
                <a:cs typeface="Arial" pitchFamily="34" charset="-120"/>
              </a:rPr>
              <a:t>⚙️</a:t>
            </a:r>
            <a:endParaRPr lang="en-US" sz="1450" dirty="0"/>
          </a:p>
          <a:p>
            <a:pPr algn="ctr" indent="0" marL="0">
              <a:buNone/>
            </a:pPr>
            <a:r>
              <a:rPr lang="en-US" sz="1450" b="1" dirty="0">
                <a:solidFill>
                  <a:srgbClr val="0F172A"/>
                </a:solidFill>
                <a:latin typeface="Arial" pitchFamily="34" charset="0"/>
                <a:ea typeface="Arial" pitchFamily="34" charset="-122"/>
                <a:cs typeface="Arial" pitchFamily="34" charset="-120"/>
              </a:rPr>
              <a:t>Custom Thread Pool</a:t>
            </a:r>
            <a:endParaRPr lang="en-US" sz="1450" dirty="0"/>
          </a:p>
        </p:txBody>
      </p:sp>
      <p:sp>
        <p:nvSpPr>
          <p:cNvPr id="39" name="Text 37"/>
          <p:cNvSpPr/>
          <p:nvPr/>
        </p:nvSpPr>
        <p:spPr>
          <a:xfrm>
            <a:off x="7434072" y="3794760"/>
            <a:ext cx="1792224" cy="1005840"/>
          </a:xfrm>
          <a:prstGeom prst="rect">
            <a:avLst/>
          </a:prstGeom>
          <a:noFill/>
          <a:ln/>
        </p:spPr>
        <p:txBody>
          <a:bodyPr wrap="square" rtlCol="0" anchor="t"/>
          <a:lstStyle/>
          <a:p>
            <a:pPr algn="ctr" indent="0" marL="0">
              <a:buNone/>
            </a:pPr>
            <a:r>
              <a:rPr lang="en-US" sz="1150" dirty="0">
                <a:solidFill>
                  <a:srgbClr val="334155"/>
                </a:solidFill>
                <a:latin typeface="Arial" pitchFamily="34" charset="0"/>
                <a:ea typeface="Arial" pitchFamily="34" charset="-122"/>
                <a:cs typeface="Arial" pitchFamily="34" charset="-120"/>
              </a:rPr>
              <a:t>Tự lập trình mảng vòng O(1) &amp; cơ chế ngủ đông từ con số 0. Điểm sáng 30%.</a:t>
            </a:r>
            <a:endParaRPr lang="en-US" sz="1150" dirty="0"/>
          </a:p>
        </p:txBody>
      </p:sp>
      <p:sp>
        <p:nvSpPr>
          <p:cNvPr id="40" name="Shape 38"/>
          <p:cNvSpPr/>
          <p:nvPr/>
        </p:nvSpPr>
        <p:spPr>
          <a:xfrm>
            <a:off x="7434072" y="5074920"/>
            <a:ext cx="1792224" cy="329184"/>
          </a:xfrm>
          <a:prstGeom prst="roundRect">
            <a:avLst>
              <a:gd name="adj" fmla="val 22222"/>
            </a:avLst>
          </a:prstGeom>
          <a:solidFill>
            <a:srgbClr val="FFFFFF"/>
          </a:solidFill>
          <a:ln w="12700">
            <a:solidFill>
              <a:srgbClr val="7C3AED"/>
            </a:solidFill>
            <a:prstDash val="solid"/>
          </a:ln>
        </p:spPr>
      </p:sp>
      <p:sp>
        <p:nvSpPr>
          <p:cNvPr id="41" name="Text 39"/>
          <p:cNvSpPr/>
          <p:nvPr/>
        </p:nvSpPr>
        <p:spPr>
          <a:xfrm>
            <a:off x="7434072" y="5074920"/>
            <a:ext cx="1792224" cy="329184"/>
          </a:xfrm>
          <a:prstGeom prst="rect">
            <a:avLst/>
          </a:prstGeom>
          <a:noFill/>
          <a:ln/>
        </p:spPr>
        <p:txBody>
          <a:bodyPr wrap="square" rtlCol="0" anchor="ctr"/>
          <a:lstStyle/>
          <a:p>
            <a:pPr algn="ctr" indent="0" marL="0">
              <a:buNone/>
            </a:pPr>
            <a:r>
              <a:rPr lang="en-US" sz="1100" b="1" dirty="0">
                <a:solidFill>
                  <a:srgbClr val="7C3AED"/>
                </a:solidFill>
                <a:latin typeface="Arial" pitchFamily="34" charset="0"/>
                <a:ea typeface="Arial" pitchFamily="34" charset="-122"/>
                <a:cs typeface="Arial" pitchFamily="34" charset="-120"/>
              </a:rPr>
              <a:t>~148 RPS • Tự Chủ</a:t>
            </a:r>
            <a:endParaRPr lang="en-US" sz="1100" dirty="0"/>
          </a:p>
        </p:txBody>
      </p:sp>
      <p:sp>
        <p:nvSpPr>
          <p:cNvPr id="42" name="Shape 40"/>
          <p:cNvSpPr/>
          <p:nvPr/>
        </p:nvSpPr>
        <p:spPr>
          <a:xfrm>
            <a:off x="9546336" y="2560320"/>
            <a:ext cx="2066544" cy="2971800"/>
          </a:xfrm>
          <a:prstGeom prst="roundRect">
            <a:avLst>
              <a:gd name="adj" fmla="val 4425"/>
            </a:avLst>
          </a:prstGeom>
          <a:solidFill>
            <a:srgbClr val="F0FDF4"/>
          </a:solidFill>
          <a:ln w="25400">
            <a:solidFill>
              <a:srgbClr val="059669"/>
            </a:solidFill>
            <a:prstDash val="solid"/>
          </a:ln>
        </p:spPr>
      </p:sp>
      <p:sp>
        <p:nvSpPr>
          <p:cNvPr id="43" name="Shape 41"/>
          <p:cNvSpPr/>
          <p:nvPr/>
        </p:nvSpPr>
        <p:spPr>
          <a:xfrm>
            <a:off x="9820656" y="2697480"/>
            <a:ext cx="1517904" cy="256032"/>
          </a:xfrm>
          <a:prstGeom prst="roundRect">
            <a:avLst>
              <a:gd name="adj" fmla="val 28571"/>
            </a:avLst>
          </a:prstGeom>
          <a:solidFill>
            <a:srgbClr val="FFFFFF"/>
          </a:solidFill>
          <a:ln w="12700">
            <a:solidFill>
              <a:srgbClr val="059669"/>
            </a:solidFill>
            <a:prstDash val="solid"/>
          </a:ln>
        </p:spPr>
      </p:sp>
      <p:sp>
        <p:nvSpPr>
          <p:cNvPr id="44" name="Text 42"/>
          <p:cNvSpPr/>
          <p:nvPr/>
        </p:nvSpPr>
        <p:spPr>
          <a:xfrm>
            <a:off x="9820656" y="2697480"/>
            <a:ext cx="1517904" cy="256032"/>
          </a:xfrm>
          <a:prstGeom prst="rect">
            <a:avLst/>
          </a:prstGeom>
          <a:noFill/>
          <a:ln/>
        </p:spPr>
        <p:txBody>
          <a:bodyPr wrap="square" rtlCol="0" anchor="ctr"/>
          <a:lstStyle/>
          <a:p>
            <a:pPr algn="ctr" indent="0" marL="0">
              <a:buNone/>
            </a:pPr>
            <a:r>
              <a:rPr lang="en-US" sz="1100" b="1" dirty="0">
                <a:solidFill>
                  <a:srgbClr val="059669"/>
                </a:solidFill>
                <a:latin typeface="Arial" pitchFamily="34" charset="0"/>
                <a:ea typeface="Arial" pitchFamily="34" charset="-122"/>
                <a:cs typeface="Arial" pitchFamily="34" charset="-120"/>
              </a:rPr>
              <a:t>MODE 4</a:t>
            </a:r>
            <a:endParaRPr lang="en-US" sz="1100" dirty="0"/>
          </a:p>
        </p:txBody>
      </p:sp>
      <p:sp>
        <p:nvSpPr>
          <p:cNvPr id="45" name="Text 43"/>
          <p:cNvSpPr/>
          <p:nvPr/>
        </p:nvSpPr>
        <p:spPr>
          <a:xfrm>
            <a:off x="9683496" y="3035808"/>
            <a:ext cx="1792224" cy="731520"/>
          </a:xfrm>
          <a:prstGeom prst="rect">
            <a:avLst/>
          </a:prstGeom>
          <a:noFill/>
          <a:ln/>
        </p:spPr>
        <p:txBody>
          <a:bodyPr wrap="square" rtlCol="0" anchor="ctr"/>
          <a:lstStyle/>
          <a:p>
            <a:pPr algn="ctr" indent="0" marL="0">
              <a:buNone/>
            </a:pPr>
            <a:r>
              <a:rPr lang="en-US" sz="1450" b="1" dirty="0">
                <a:solidFill>
                  <a:srgbClr val="0F172A"/>
                </a:solidFill>
                <a:latin typeface="Arial" pitchFamily="34" charset="0"/>
                <a:ea typeface="Arial" pitchFamily="34" charset="-122"/>
                <a:cs typeface="Arial" pitchFamily="34" charset="-120"/>
              </a:rPr>
              <a:t>🚀</a:t>
            </a:r>
            <a:endParaRPr lang="en-US" sz="1450" dirty="0"/>
          </a:p>
          <a:p>
            <a:pPr algn="ctr" indent="0" marL="0">
              <a:buNone/>
            </a:pPr>
            <a:r>
              <a:rPr lang="en-US" sz="1450" b="1" dirty="0">
                <a:solidFill>
                  <a:srgbClr val="0F172A"/>
                </a:solidFill>
                <a:latin typeface="Arial" pitchFamily="34" charset="0"/>
                <a:ea typeface="Arial" pitchFamily="34" charset="-122"/>
                <a:cs typeface="Arial" pitchFamily="34" charset="-120"/>
              </a:rPr>
              <a:t>Virtual Threads (Loom)</a:t>
            </a:r>
            <a:endParaRPr lang="en-US" sz="1450" dirty="0"/>
          </a:p>
        </p:txBody>
      </p:sp>
      <p:sp>
        <p:nvSpPr>
          <p:cNvPr id="46" name="Text 44"/>
          <p:cNvSpPr/>
          <p:nvPr/>
        </p:nvSpPr>
        <p:spPr>
          <a:xfrm>
            <a:off x="9683496" y="3794760"/>
            <a:ext cx="1792224" cy="1005840"/>
          </a:xfrm>
          <a:prstGeom prst="rect">
            <a:avLst/>
          </a:prstGeom>
          <a:noFill/>
          <a:ln/>
        </p:spPr>
        <p:txBody>
          <a:bodyPr wrap="square" rtlCol="0" anchor="t"/>
          <a:lstStyle/>
          <a:p>
            <a:pPr algn="ctr" indent="0" marL="0">
              <a:buNone/>
            </a:pPr>
            <a:r>
              <a:rPr lang="en-US" sz="1150" dirty="0">
                <a:solidFill>
                  <a:srgbClr val="334155"/>
                </a:solidFill>
                <a:latin typeface="Arial" pitchFamily="34" charset="0"/>
                <a:ea typeface="Arial" pitchFamily="34" charset="-122"/>
                <a:cs typeface="Arial" pitchFamily="34" charset="-120"/>
              </a:rPr>
              <a:t>Luồng ảo siêu nhẹ ở User-space. 1,000 khách chỉ cần 16 luồng Carrier.</a:t>
            </a:r>
            <a:endParaRPr lang="en-US" sz="1150" dirty="0"/>
          </a:p>
        </p:txBody>
      </p:sp>
      <p:sp>
        <p:nvSpPr>
          <p:cNvPr id="47" name="Shape 45"/>
          <p:cNvSpPr/>
          <p:nvPr/>
        </p:nvSpPr>
        <p:spPr>
          <a:xfrm>
            <a:off x="9683496" y="5074920"/>
            <a:ext cx="1792224" cy="329184"/>
          </a:xfrm>
          <a:prstGeom prst="roundRect">
            <a:avLst>
              <a:gd name="adj" fmla="val 22222"/>
            </a:avLst>
          </a:prstGeom>
          <a:solidFill>
            <a:srgbClr val="FFFFFF"/>
          </a:solidFill>
          <a:ln w="12700">
            <a:solidFill>
              <a:srgbClr val="059669"/>
            </a:solidFill>
            <a:prstDash val="solid"/>
          </a:ln>
        </p:spPr>
      </p:sp>
      <p:sp>
        <p:nvSpPr>
          <p:cNvPr id="48" name="Text 46"/>
          <p:cNvSpPr/>
          <p:nvPr/>
        </p:nvSpPr>
        <p:spPr>
          <a:xfrm>
            <a:off x="9683496" y="5074920"/>
            <a:ext cx="1792224" cy="329184"/>
          </a:xfrm>
          <a:prstGeom prst="rect">
            <a:avLst/>
          </a:prstGeom>
          <a:noFill/>
          <a:ln/>
        </p:spPr>
        <p:txBody>
          <a:bodyPr wrap="square" rtlCol="0" anchor="ctr"/>
          <a:lstStyle/>
          <a:p>
            <a:pPr algn="ctr" indent="0" marL="0">
              <a:buNone/>
            </a:pPr>
            <a:r>
              <a:rPr lang="en-US" sz="1100" b="1" dirty="0">
                <a:solidFill>
                  <a:srgbClr val="059669"/>
                </a:solidFill>
                <a:latin typeface="Arial" pitchFamily="34" charset="0"/>
                <a:ea typeface="Arial" pitchFamily="34" charset="-122"/>
                <a:cs typeface="Arial" pitchFamily="34" charset="-120"/>
              </a:rPr>
              <a:t>~1,145+ RPS • Đỉnh Cao</a:t>
            </a:r>
            <a:endParaRPr lang="en-US" sz="1100" dirty="0"/>
          </a:p>
        </p:txBody>
      </p:sp>
      <p:sp>
        <p:nvSpPr>
          <p:cNvPr id="49" name="Shape 47"/>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50" name="Shape 48"/>
          <p:cNvSpPr/>
          <p:nvPr/>
        </p:nvSpPr>
        <p:spPr>
          <a:xfrm>
            <a:off x="548640" y="5687568"/>
            <a:ext cx="109728" cy="658368"/>
          </a:xfrm>
          <a:prstGeom prst="rect">
            <a:avLst/>
          </a:prstGeom>
          <a:solidFill>
            <a:srgbClr val="1D4ED8"/>
          </a:solidFill>
          <a:ln/>
        </p:spPr>
      </p:sp>
      <p:sp>
        <p:nvSpPr>
          <p:cNvPr id="51" name="Text 49"/>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MỤC TIÊU NGHIÊN CỨU: Tự tay cài đặt độc lập 5/5 kiến trúc luồng để đối chiếu định lượng khoa học từ đơn luồng đến Java 21 Virtual Threads.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TỔNG HỢP LÝ THUYẾT</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Bảng Đối Sánh Lý Thuyết 5 Kiến Trúc Luồng</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So sánh đa chiều về mức độ tiêu hao tài nguyên, cơ chế điều phối và giới hạn chịu tải</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12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12 / 18</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3931920"/>
        </p:xfrm>
        <a:graphic>
          <a:graphicData uri="http://schemas.openxmlformats.org/drawingml/2006/table">
            <a:tbl>
              <a:tblPr/>
              <a:tblGrid>
                <a:gridCol w="2560320"/>
                <a:gridCol w="1645920"/>
                <a:gridCol w="1691640"/>
                <a:gridCol w="1691640"/>
                <a:gridCol w="1691640"/>
                <a:gridCol w="1810512"/>
              </a:tblGrid>
              <a:tr h="59436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TIÊU CHÍ SO SÁNH</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 1</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(Iterative)</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 2</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(Thread/Conn)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 3</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(Worker Pool)</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 5</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(Custom Pool)</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 4</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(Virtual Threads)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47857"/>
                    </a:solidFill>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Số luồng OS thực tế</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Duy nhất 1 luồng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E11D48"/>
                          </a:solidFill>
                          <a:latin typeface="Arial" pitchFamily="34" charset="0"/>
                          <a:ea typeface="Arial" pitchFamily="34" charset="-122"/>
                          <a:cs typeface="Arial" pitchFamily="34" charset="-120"/>
                        </a:rPr>
                        <a:t>Tỷ lệ 1:1 với kết nối (N)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Cố định 16 luồng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Cố định 16 luồng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Cố định 15 — 16 Carrier</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RAM tiêu tốn khi 10K conn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 MB (Nghẽn)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E11D48"/>
                          </a:solidFill>
                          <a:latin typeface="Arial" pitchFamily="34" charset="0"/>
                          <a:ea typeface="Arial" pitchFamily="34" charset="-122"/>
                          <a:cs typeface="Arial" pitchFamily="34" charset="-120"/>
                        </a:rPr>
                        <a:t>~10 GB (Sập OOM)</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~30 MB (An toàn)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~28 MB (An toàn)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~25 MB (Cực nhẹ)</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Cơ chế điều phối (Scheduling)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Vòng lặp đơn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Kernel OS điều phối</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Java ExecutorService</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7C3AED"/>
                          </a:solidFill>
                          <a:latin typeface="Arial" pitchFamily="34" charset="0"/>
                          <a:ea typeface="Arial" pitchFamily="34" charset="-122"/>
                          <a:cs typeface="Arial" pitchFamily="34" charset="-120"/>
                        </a:rPr>
                        <a:t>Mảng vòng O(1) tự chế</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JVM User-space (Work-stealing)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Chi phí Context Switching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 (Không có)</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E11D48"/>
                          </a:solidFill>
                          <a:latin typeface="Arial" pitchFamily="34" charset="0"/>
                          <a:ea typeface="Arial" pitchFamily="34" charset="-122"/>
                          <a:cs typeface="Arial" pitchFamily="34" charset="-120"/>
                        </a:rPr>
                        <a:t>Cực cao (CPU quá tải)</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Thấp (16 luồng)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Thấp (16 luồng)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Gần như bằng 0 (User-space)</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Khả năng phục hồi quá tải</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Kém (Nối đuôi vô hạn)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E11D48"/>
                          </a:solidFill>
                          <a:latin typeface="Arial" pitchFamily="34" charset="0"/>
                          <a:ea typeface="Arial" pitchFamily="34" charset="-122"/>
                          <a:cs typeface="Arial" pitchFamily="34" charset="-120"/>
                        </a:rPr>
                        <a:t>Liệt hệ thống (OOM)</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Tuyệt vời (Queue + HTTP 503)</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Tốt (Van từ chối tự chế)</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Tuyệt đối (Mở rộng tự nhiên)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2" name="Shape 9"/>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13" name="Shape 10"/>
          <p:cNvSpPr/>
          <p:nvPr/>
        </p:nvSpPr>
        <p:spPr>
          <a:xfrm>
            <a:off x="548640" y="5687568"/>
            <a:ext cx="109728" cy="658368"/>
          </a:xfrm>
          <a:prstGeom prst="rect">
            <a:avLst/>
          </a:prstGeom>
          <a:solidFill>
            <a:srgbClr val="1D4ED8"/>
          </a:solidFill>
          <a:ln/>
        </p:spPr>
      </p:sp>
      <p:sp>
        <p:nvSpPr>
          <p:cNvPr id="14" name="Text 11"/>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TỔNG KẾT: Virtual Threads (Java 21) hội tụ toàn bộ ưu điểm: giữ nguyên mô hình đồng bộ dễ đọc nhưng tài nguyên siêu nhẹ và hiệu năng vượt trội.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TRÌNH DIỄN THỰC CHIẾN</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Kịch Bản Live Demo Trực Tiếp Trên Trình Duyệt</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Trình diễn 6 bước phân cảnh chứng minh trực quan sự biến thiên của OS Threads và Độ trễ</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14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14 / 18</a:t>
            </a:r>
            <a:endParaRPr lang="en-US" sz="1100" dirty="0"/>
          </a:p>
        </p:txBody>
      </p:sp>
      <p:sp>
        <p:nvSpPr>
          <p:cNvPr id="11" name="Shape 9"/>
          <p:cNvSpPr/>
          <p:nvPr/>
        </p:nvSpPr>
        <p:spPr>
          <a:xfrm>
            <a:off x="548640" y="1600200"/>
            <a:ext cx="3511296" cy="1874520"/>
          </a:xfrm>
          <a:prstGeom prst="roundRect">
            <a:avLst>
              <a:gd name="adj" fmla="val 4878"/>
            </a:avLst>
          </a:prstGeom>
          <a:solidFill>
            <a:srgbClr val="F8FAFC"/>
          </a:solidFill>
          <a:ln w="25400">
            <a:solidFill>
              <a:srgbClr val="1D4ED8"/>
            </a:solidFill>
            <a:prstDash val="solid"/>
          </a:ln>
        </p:spPr>
      </p:sp>
      <p:sp>
        <p:nvSpPr>
          <p:cNvPr id="12" name="Shape 10"/>
          <p:cNvSpPr/>
          <p:nvPr/>
        </p:nvSpPr>
        <p:spPr>
          <a:xfrm>
            <a:off x="548640" y="1600200"/>
            <a:ext cx="91440" cy="1874520"/>
          </a:xfrm>
          <a:prstGeom prst="rect">
            <a:avLst/>
          </a:prstGeom>
          <a:solidFill>
            <a:srgbClr val="1D4ED8"/>
          </a:solidFill>
          <a:ln/>
        </p:spPr>
      </p:sp>
      <p:sp>
        <p:nvSpPr>
          <p:cNvPr id="13" name="Text 11"/>
          <p:cNvSpPr/>
          <p:nvPr/>
        </p:nvSpPr>
        <p:spPr>
          <a:xfrm>
            <a:off x="777240" y="1737360"/>
            <a:ext cx="3145536" cy="365760"/>
          </a:xfrm>
          <a:prstGeom prst="rect">
            <a:avLst/>
          </a:prstGeom>
          <a:noFill/>
          <a:ln/>
        </p:spPr>
        <p:txBody>
          <a:bodyPr wrap="square" rtlCol="0" anchor="ctr"/>
          <a:lstStyle/>
          <a:p>
            <a:pPr indent="0" marL="0">
              <a:buNone/>
            </a:pPr>
            <a:r>
              <a:rPr lang="en-US" sz="1350" b="1" dirty="0">
                <a:solidFill>
                  <a:srgbClr val="1D4ED8"/>
                </a:solidFill>
                <a:latin typeface="Arial" pitchFamily="34" charset="0"/>
                <a:ea typeface="Arial" pitchFamily="34" charset="-122"/>
                <a:cs typeface="Arial" pitchFamily="34" charset="-120"/>
              </a:rPr>
              <a:t>Bước 1: Khởi Động &amp; Phân Dạng Tải</a:t>
            </a:r>
            <a:endParaRPr lang="en-US" sz="1350" dirty="0"/>
          </a:p>
        </p:txBody>
      </p:sp>
      <p:sp>
        <p:nvSpPr>
          <p:cNvPr id="14" name="Text 12"/>
          <p:cNvSpPr/>
          <p:nvPr/>
        </p:nvSpPr>
        <p:spPr>
          <a:xfrm>
            <a:off x="777240" y="2103120"/>
            <a:ext cx="3145536" cy="1234440"/>
          </a:xfrm>
          <a:prstGeom prst="rect">
            <a:avLst/>
          </a:prstGeom>
          <a:noFill/>
          <a:ln/>
        </p:spPr>
        <p:txBody>
          <a:bodyPr wrap="square" lIns="25400" tIns="50800" rIns="50800" bIns="25400" rtlCol="0" anchor="t"/>
          <a:lstStyle/>
          <a:p>
            <a:pPr indent="0" marL="0">
              <a:buNone/>
            </a:pPr>
            <a:r>
              <a:rPr lang="en-US" sz="1200" dirty="0">
                <a:solidFill>
                  <a:srgbClr val="334155"/>
                </a:solidFill>
                <a:latin typeface="Arial" pitchFamily="34" charset="0"/>
                <a:ea typeface="Arial" pitchFamily="34" charset="-122"/>
                <a:cs typeface="Arial" pitchFamily="34" charset="-120"/>
              </a:rPr>
              <a:t>• Bật Server, mở Web Dashboard 60fps tại cổng 8080.</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Giới thiệu 6 thẻ đo lường và 3 loại tải: Tức thì, Chờ I/O 100ms, Nghiền CPU.</a:t>
            </a:r>
            <a:endParaRPr lang="en-US" sz="1200" dirty="0"/>
          </a:p>
        </p:txBody>
      </p:sp>
      <p:sp>
        <p:nvSpPr>
          <p:cNvPr id="15" name="Shape 13"/>
          <p:cNvSpPr/>
          <p:nvPr/>
        </p:nvSpPr>
        <p:spPr>
          <a:xfrm>
            <a:off x="4334256" y="1600200"/>
            <a:ext cx="3511296" cy="1874520"/>
          </a:xfrm>
          <a:prstGeom prst="roundRect">
            <a:avLst>
              <a:gd name="adj" fmla="val 4878"/>
            </a:avLst>
          </a:prstGeom>
          <a:solidFill>
            <a:srgbClr val="FFF5F6"/>
          </a:solidFill>
          <a:ln w="25400">
            <a:solidFill>
              <a:srgbClr val="E11D48"/>
            </a:solidFill>
            <a:prstDash val="solid"/>
          </a:ln>
        </p:spPr>
      </p:sp>
      <p:sp>
        <p:nvSpPr>
          <p:cNvPr id="16" name="Shape 14"/>
          <p:cNvSpPr/>
          <p:nvPr/>
        </p:nvSpPr>
        <p:spPr>
          <a:xfrm>
            <a:off x="4334256" y="1600200"/>
            <a:ext cx="91440" cy="1874520"/>
          </a:xfrm>
          <a:prstGeom prst="rect">
            <a:avLst/>
          </a:prstGeom>
          <a:solidFill>
            <a:srgbClr val="E11D48"/>
          </a:solidFill>
          <a:ln/>
        </p:spPr>
      </p:sp>
      <p:sp>
        <p:nvSpPr>
          <p:cNvPr id="17" name="Text 15"/>
          <p:cNvSpPr/>
          <p:nvPr/>
        </p:nvSpPr>
        <p:spPr>
          <a:xfrm>
            <a:off x="4562856" y="1737360"/>
            <a:ext cx="3145536" cy="365760"/>
          </a:xfrm>
          <a:prstGeom prst="rect">
            <a:avLst/>
          </a:prstGeom>
          <a:noFill/>
          <a:ln/>
        </p:spPr>
        <p:txBody>
          <a:bodyPr wrap="square" rtlCol="0" anchor="ctr"/>
          <a:lstStyle/>
          <a:p>
            <a:pPr indent="0" marL="0">
              <a:buNone/>
            </a:pPr>
            <a:r>
              <a:rPr lang="en-US" sz="1350" b="1" dirty="0">
                <a:solidFill>
                  <a:srgbClr val="E11D48"/>
                </a:solidFill>
                <a:latin typeface="Arial" pitchFamily="34" charset="0"/>
                <a:ea typeface="Arial" pitchFamily="34" charset="-122"/>
                <a:cs typeface="Arial" pitchFamily="34" charset="-120"/>
              </a:rPr>
              <a:t>Bước 2: Đối Chứng Mode 1 vs Mode 2</a:t>
            </a:r>
            <a:endParaRPr lang="en-US" sz="1350" dirty="0"/>
          </a:p>
        </p:txBody>
      </p:sp>
      <p:sp>
        <p:nvSpPr>
          <p:cNvPr id="18" name="Text 16"/>
          <p:cNvSpPr/>
          <p:nvPr/>
        </p:nvSpPr>
        <p:spPr>
          <a:xfrm>
            <a:off x="4562856" y="2103120"/>
            <a:ext cx="3145536" cy="1234440"/>
          </a:xfrm>
          <a:prstGeom prst="rect">
            <a:avLst/>
          </a:prstGeom>
          <a:noFill/>
          <a:ln/>
        </p:spPr>
        <p:txBody>
          <a:bodyPr wrap="square" lIns="25400" tIns="50800" rIns="50800" bIns="25400" rtlCol="0" anchor="t"/>
          <a:lstStyle/>
          <a:p>
            <a:pPr indent="0" marL="0">
              <a:buNone/>
            </a:pPr>
            <a:r>
              <a:rPr lang="en-US" sz="1200" dirty="0">
                <a:solidFill>
                  <a:srgbClr val="334155"/>
                </a:solidFill>
                <a:latin typeface="Arial" pitchFamily="34" charset="0"/>
                <a:ea typeface="Arial" pitchFamily="34" charset="-122"/>
                <a:cs typeface="Arial" pitchFamily="34" charset="-120"/>
              </a:rPr>
              <a:t>• Mode 1: 30 kết nối nối đuôi nhau mất 3s tuần tự (~9.8 RPS).</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Mode 2: Nhanh nhưng Luồng OS nhảy vọt lên đỉnh bám sát số kết nối!</a:t>
            </a:r>
            <a:endParaRPr lang="en-US" sz="1200" dirty="0"/>
          </a:p>
        </p:txBody>
      </p:sp>
      <p:sp>
        <p:nvSpPr>
          <p:cNvPr id="19" name="Shape 17"/>
          <p:cNvSpPr/>
          <p:nvPr/>
        </p:nvSpPr>
        <p:spPr>
          <a:xfrm>
            <a:off x="8119872" y="1600200"/>
            <a:ext cx="3511296" cy="1874520"/>
          </a:xfrm>
          <a:prstGeom prst="roundRect">
            <a:avLst>
              <a:gd name="adj" fmla="val 4878"/>
            </a:avLst>
          </a:prstGeom>
          <a:solidFill>
            <a:srgbClr val="FFFBEB"/>
          </a:solidFill>
          <a:ln w="25400">
            <a:solidFill>
              <a:srgbClr val="D97706"/>
            </a:solidFill>
            <a:prstDash val="solid"/>
          </a:ln>
        </p:spPr>
      </p:sp>
      <p:sp>
        <p:nvSpPr>
          <p:cNvPr id="20" name="Shape 18"/>
          <p:cNvSpPr/>
          <p:nvPr/>
        </p:nvSpPr>
        <p:spPr>
          <a:xfrm>
            <a:off x="8119872" y="1600200"/>
            <a:ext cx="91440" cy="1874520"/>
          </a:xfrm>
          <a:prstGeom prst="rect">
            <a:avLst/>
          </a:prstGeom>
          <a:solidFill>
            <a:srgbClr val="D97706"/>
          </a:solidFill>
          <a:ln/>
        </p:spPr>
      </p:sp>
      <p:sp>
        <p:nvSpPr>
          <p:cNvPr id="21" name="Text 19"/>
          <p:cNvSpPr/>
          <p:nvPr/>
        </p:nvSpPr>
        <p:spPr>
          <a:xfrm>
            <a:off x="8348472" y="1737360"/>
            <a:ext cx="3145536" cy="365760"/>
          </a:xfrm>
          <a:prstGeom prst="rect">
            <a:avLst/>
          </a:prstGeom>
          <a:noFill/>
          <a:ln/>
        </p:spPr>
        <p:txBody>
          <a:bodyPr wrap="square" rtlCol="0" anchor="ctr"/>
          <a:lstStyle/>
          <a:p>
            <a:pPr indent="0" marL="0">
              <a:buNone/>
            </a:pPr>
            <a:r>
              <a:rPr lang="en-US" sz="1350" b="1" dirty="0">
                <a:solidFill>
                  <a:srgbClr val="D97706"/>
                </a:solidFill>
                <a:latin typeface="Arial" pitchFamily="34" charset="0"/>
                <a:ea typeface="Arial" pitchFamily="34" charset="-122"/>
                <a:cs typeface="Arial" pitchFamily="34" charset="-120"/>
              </a:rPr>
              <a:t>Bước 3: Mode 3 Worker Thread Pool</a:t>
            </a:r>
            <a:endParaRPr lang="en-US" sz="1350" dirty="0"/>
          </a:p>
        </p:txBody>
      </p:sp>
      <p:sp>
        <p:nvSpPr>
          <p:cNvPr id="22" name="Text 20"/>
          <p:cNvSpPr/>
          <p:nvPr/>
        </p:nvSpPr>
        <p:spPr>
          <a:xfrm>
            <a:off x="8348472" y="2103120"/>
            <a:ext cx="3145536" cy="1234440"/>
          </a:xfrm>
          <a:prstGeom prst="rect">
            <a:avLst/>
          </a:prstGeom>
          <a:noFill/>
          <a:ln/>
        </p:spPr>
        <p:txBody>
          <a:bodyPr wrap="square" lIns="25400" tIns="50800" rIns="50800" bIns="25400" rtlCol="0" anchor="t"/>
          <a:lstStyle/>
          <a:p>
            <a:pPr indent="0" marL="0">
              <a:buNone/>
            </a:pPr>
            <a:r>
              <a:rPr lang="en-US" sz="1200" dirty="0">
                <a:solidFill>
                  <a:srgbClr val="334155"/>
                </a:solidFill>
                <a:latin typeface="Arial" pitchFamily="34" charset="0"/>
                <a:ea typeface="Arial" pitchFamily="34" charset="-122"/>
                <a:cs typeface="Arial" pitchFamily="34" charset="-120"/>
              </a:rPr>
              <a:t>• Bắn tải 500 kết nối dồn dập.</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Đường Đỏ bị khóa cứng ở 16 luồng cố định.</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Minh họa van xả HTTP 503 từ chối lịch sự khi vượt 1,000 chỗ chờ.</a:t>
            </a:r>
            <a:endParaRPr lang="en-US" sz="1200" dirty="0"/>
          </a:p>
        </p:txBody>
      </p:sp>
      <p:sp>
        <p:nvSpPr>
          <p:cNvPr id="23" name="Shape 21"/>
          <p:cNvSpPr/>
          <p:nvPr/>
        </p:nvSpPr>
        <p:spPr>
          <a:xfrm>
            <a:off x="548640" y="3675888"/>
            <a:ext cx="3511296" cy="1874520"/>
          </a:xfrm>
          <a:prstGeom prst="roundRect">
            <a:avLst>
              <a:gd name="adj" fmla="val 4878"/>
            </a:avLst>
          </a:prstGeom>
          <a:solidFill>
            <a:srgbClr val="FAF5FF"/>
          </a:solidFill>
          <a:ln w="25400">
            <a:solidFill>
              <a:srgbClr val="7C3AED"/>
            </a:solidFill>
            <a:prstDash val="solid"/>
          </a:ln>
        </p:spPr>
      </p:sp>
      <p:sp>
        <p:nvSpPr>
          <p:cNvPr id="24" name="Shape 22"/>
          <p:cNvSpPr/>
          <p:nvPr/>
        </p:nvSpPr>
        <p:spPr>
          <a:xfrm>
            <a:off x="548640" y="3675888"/>
            <a:ext cx="91440" cy="1874520"/>
          </a:xfrm>
          <a:prstGeom prst="rect">
            <a:avLst/>
          </a:prstGeom>
          <a:solidFill>
            <a:srgbClr val="7C3AED"/>
          </a:solidFill>
          <a:ln/>
        </p:spPr>
      </p:sp>
      <p:sp>
        <p:nvSpPr>
          <p:cNvPr id="25" name="Text 23"/>
          <p:cNvSpPr/>
          <p:nvPr/>
        </p:nvSpPr>
        <p:spPr>
          <a:xfrm>
            <a:off x="777240" y="3813048"/>
            <a:ext cx="3145536" cy="365760"/>
          </a:xfrm>
          <a:prstGeom prst="rect">
            <a:avLst/>
          </a:prstGeom>
          <a:noFill/>
          <a:ln/>
        </p:spPr>
        <p:txBody>
          <a:bodyPr wrap="square" rtlCol="0" anchor="ctr"/>
          <a:lstStyle/>
          <a:p>
            <a:pPr indent="0" marL="0">
              <a:buNone/>
            </a:pPr>
            <a:r>
              <a:rPr lang="en-US" sz="1350" b="1" dirty="0">
                <a:solidFill>
                  <a:srgbClr val="7C3AED"/>
                </a:solidFill>
                <a:latin typeface="Arial" pitchFamily="34" charset="0"/>
                <a:ea typeface="Arial" pitchFamily="34" charset="-122"/>
                <a:cs typeface="Arial" pitchFamily="34" charset="-120"/>
              </a:rPr>
              <a:t>Bước 3.5: Mode 5 Tự Viết (Sáng 30%)</a:t>
            </a:r>
            <a:endParaRPr lang="en-US" sz="1350" dirty="0"/>
          </a:p>
        </p:txBody>
      </p:sp>
      <p:sp>
        <p:nvSpPr>
          <p:cNvPr id="26" name="Text 24"/>
          <p:cNvSpPr/>
          <p:nvPr/>
        </p:nvSpPr>
        <p:spPr>
          <a:xfrm>
            <a:off x="777240" y="4178808"/>
            <a:ext cx="3145536" cy="1234440"/>
          </a:xfrm>
          <a:prstGeom prst="rect">
            <a:avLst/>
          </a:prstGeom>
          <a:noFill/>
          <a:ln/>
        </p:spPr>
        <p:txBody>
          <a:bodyPr wrap="square" lIns="25400" tIns="50800" rIns="50800" bIns="25400" rtlCol="0" anchor="t"/>
          <a:lstStyle/>
          <a:p>
            <a:pPr indent="0" marL="0">
              <a:buNone/>
            </a:pPr>
            <a:r>
              <a:rPr lang="en-US" sz="1200" dirty="0">
                <a:solidFill>
                  <a:srgbClr val="334155"/>
                </a:solidFill>
                <a:latin typeface="Arial" pitchFamily="34" charset="0"/>
                <a:ea typeface="Arial" pitchFamily="34" charset="-122"/>
                <a:cs typeface="Arial" pitchFamily="34" charset="-120"/>
              </a:rPr>
              <a:t>• Khởi động mô hình CustomThreadPool tự làm từ số 0.</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Chứng minh băng chuyền xoay vòng O(1) và ngủ đông đạt 98% thư viện chuẩn.</a:t>
            </a:r>
            <a:endParaRPr lang="en-US" sz="1200" dirty="0"/>
          </a:p>
        </p:txBody>
      </p:sp>
      <p:sp>
        <p:nvSpPr>
          <p:cNvPr id="27" name="Shape 25"/>
          <p:cNvSpPr/>
          <p:nvPr/>
        </p:nvSpPr>
        <p:spPr>
          <a:xfrm>
            <a:off x="4334256" y="3675888"/>
            <a:ext cx="3511296" cy="1874520"/>
          </a:xfrm>
          <a:prstGeom prst="roundRect">
            <a:avLst>
              <a:gd name="adj" fmla="val 4878"/>
            </a:avLst>
          </a:prstGeom>
          <a:solidFill>
            <a:srgbClr val="F0FDF4"/>
          </a:solidFill>
          <a:ln w="25400">
            <a:solidFill>
              <a:srgbClr val="059669"/>
            </a:solidFill>
            <a:prstDash val="solid"/>
          </a:ln>
        </p:spPr>
      </p:sp>
      <p:sp>
        <p:nvSpPr>
          <p:cNvPr id="28" name="Shape 26"/>
          <p:cNvSpPr/>
          <p:nvPr/>
        </p:nvSpPr>
        <p:spPr>
          <a:xfrm>
            <a:off x="4334256" y="3675888"/>
            <a:ext cx="91440" cy="1874520"/>
          </a:xfrm>
          <a:prstGeom prst="rect">
            <a:avLst/>
          </a:prstGeom>
          <a:solidFill>
            <a:srgbClr val="059669"/>
          </a:solidFill>
          <a:ln/>
        </p:spPr>
      </p:sp>
      <p:sp>
        <p:nvSpPr>
          <p:cNvPr id="29" name="Text 27"/>
          <p:cNvSpPr/>
          <p:nvPr/>
        </p:nvSpPr>
        <p:spPr>
          <a:xfrm>
            <a:off x="4562856" y="3813048"/>
            <a:ext cx="3145536" cy="365760"/>
          </a:xfrm>
          <a:prstGeom prst="rect">
            <a:avLst/>
          </a:prstGeom>
          <a:noFill/>
          <a:ln/>
        </p:spPr>
        <p:txBody>
          <a:bodyPr wrap="square" rtlCol="0" anchor="ctr"/>
          <a:lstStyle/>
          <a:p>
            <a:pPr indent="0" marL="0">
              <a:buNone/>
            </a:pPr>
            <a:r>
              <a:rPr lang="en-US" sz="1350" b="1" dirty="0">
                <a:solidFill>
                  <a:srgbClr val="059669"/>
                </a:solidFill>
                <a:latin typeface="Arial" pitchFamily="34" charset="0"/>
                <a:ea typeface="Arial" pitchFamily="34" charset="-122"/>
                <a:cs typeface="Arial" pitchFamily="34" charset="-120"/>
              </a:rPr>
              <a:t>Bước 4: Đỉnh Cao Virtual Threads Java 21</a:t>
            </a:r>
            <a:endParaRPr lang="en-US" sz="1350" dirty="0"/>
          </a:p>
        </p:txBody>
      </p:sp>
      <p:sp>
        <p:nvSpPr>
          <p:cNvPr id="30" name="Text 28"/>
          <p:cNvSpPr/>
          <p:nvPr/>
        </p:nvSpPr>
        <p:spPr>
          <a:xfrm>
            <a:off x="4562856" y="4178808"/>
            <a:ext cx="3145536" cy="1234440"/>
          </a:xfrm>
          <a:prstGeom prst="rect">
            <a:avLst/>
          </a:prstGeom>
          <a:noFill/>
          <a:ln/>
        </p:spPr>
        <p:txBody>
          <a:bodyPr wrap="square" lIns="25400" tIns="50800" rIns="50800" bIns="25400" rtlCol="0" anchor="t"/>
          <a:lstStyle/>
          <a:p>
            <a:pPr indent="0" marL="0">
              <a:buNone/>
            </a:pPr>
            <a:r>
              <a:rPr lang="en-US" sz="1200" dirty="0">
                <a:solidFill>
                  <a:srgbClr val="334155"/>
                </a:solidFill>
                <a:latin typeface="Arial" pitchFamily="34" charset="0"/>
                <a:ea typeface="Arial" pitchFamily="34" charset="-122"/>
                <a:cs typeface="Arial" pitchFamily="34" charset="-120"/>
              </a:rPr>
              <a:t>• Bắn tải cực hạn 1,000 kết nối dồn dập.</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1,000 khách nhưng chỉ tốn 15 — 16 luồng thật!</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Kỷ lục thông lượng 1,145+ RPS.</a:t>
            </a:r>
            <a:endParaRPr lang="en-US" sz="1200" dirty="0"/>
          </a:p>
        </p:txBody>
      </p:sp>
      <p:sp>
        <p:nvSpPr>
          <p:cNvPr id="31" name="Shape 29"/>
          <p:cNvSpPr/>
          <p:nvPr/>
        </p:nvSpPr>
        <p:spPr>
          <a:xfrm>
            <a:off x="8119872" y="3675888"/>
            <a:ext cx="3511296" cy="1874520"/>
          </a:xfrm>
          <a:prstGeom prst="roundRect">
            <a:avLst>
              <a:gd name="adj" fmla="val 4878"/>
            </a:avLst>
          </a:prstGeom>
          <a:solidFill>
            <a:srgbClr val="F8FAFC"/>
          </a:solidFill>
          <a:ln w="25400">
            <a:solidFill>
              <a:srgbClr val="1D4ED8"/>
            </a:solidFill>
            <a:prstDash val="solid"/>
          </a:ln>
        </p:spPr>
      </p:sp>
      <p:sp>
        <p:nvSpPr>
          <p:cNvPr id="32" name="Shape 30"/>
          <p:cNvSpPr/>
          <p:nvPr/>
        </p:nvSpPr>
        <p:spPr>
          <a:xfrm>
            <a:off x="8119872" y="3675888"/>
            <a:ext cx="91440" cy="1874520"/>
          </a:xfrm>
          <a:prstGeom prst="rect">
            <a:avLst/>
          </a:prstGeom>
          <a:solidFill>
            <a:srgbClr val="1D4ED8"/>
          </a:solidFill>
          <a:ln/>
        </p:spPr>
      </p:sp>
      <p:sp>
        <p:nvSpPr>
          <p:cNvPr id="33" name="Text 31"/>
          <p:cNvSpPr/>
          <p:nvPr/>
        </p:nvSpPr>
        <p:spPr>
          <a:xfrm>
            <a:off x="8348472" y="3813048"/>
            <a:ext cx="3145536" cy="365760"/>
          </a:xfrm>
          <a:prstGeom prst="rect">
            <a:avLst/>
          </a:prstGeom>
          <a:noFill/>
          <a:ln/>
        </p:spPr>
        <p:txBody>
          <a:bodyPr wrap="square" rtlCol="0" anchor="ctr"/>
          <a:lstStyle/>
          <a:p>
            <a:pPr indent="0" marL="0">
              <a:buNone/>
            </a:pPr>
            <a:r>
              <a:rPr lang="en-US" sz="1350" b="1" dirty="0">
                <a:solidFill>
                  <a:srgbClr val="1D4ED8"/>
                </a:solidFill>
                <a:latin typeface="Arial" pitchFamily="34" charset="0"/>
                <a:ea typeface="Arial" pitchFamily="34" charset="-122"/>
                <a:cs typeface="Arial" pitchFamily="34" charset="-120"/>
              </a:rPr>
              <a:t>Bước 5: Bảng Ma Trận &amp; Xuất Báo Cáo</a:t>
            </a:r>
            <a:endParaRPr lang="en-US" sz="1350" dirty="0"/>
          </a:p>
        </p:txBody>
      </p:sp>
      <p:sp>
        <p:nvSpPr>
          <p:cNvPr id="34" name="Text 32"/>
          <p:cNvSpPr/>
          <p:nvPr/>
        </p:nvSpPr>
        <p:spPr>
          <a:xfrm>
            <a:off x="8348472" y="4178808"/>
            <a:ext cx="3145536" cy="1234440"/>
          </a:xfrm>
          <a:prstGeom prst="rect">
            <a:avLst/>
          </a:prstGeom>
          <a:noFill/>
          <a:ln/>
        </p:spPr>
        <p:txBody>
          <a:bodyPr wrap="square" lIns="25400" tIns="50800" rIns="50800" bIns="25400" rtlCol="0" anchor="t"/>
          <a:lstStyle/>
          <a:p>
            <a:pPr indent="0" marL="0">
              <a:buNone/>
            </a:pPr>
            <a:r>
              <a:rPr lang="en-US" sz="1200" dirty="0">
                <a:solidFill>
                  <a:srgbClr val="334155"/>
                </a:solidFill>
                <a:latin typeface="Arial" pitchFamily="34" charset="0"/>
                <a:ea typeface="Arial" pitchFamily="34" charset="-122"/>
                <a:cs typeface="Arial" pitchFamily="34" charset="-120"/>
              </a:rPr>
              <a:t>• Xem bảng tổng kết đối sánh trực quan 5 mô hình.</a:t>
            </a:r>
            <a:endParaRPr lang="en-US" sz="1200" dirty="0"/>
          </a:p>
          <a:p>
            <a:pPr indent="0" marL="0">
              <a:buNone/>
            </a:pPr>
            <a:r>
              <a:rPr lang="en-US" sz="1200" dirty="0">
                <a:solidFill>
                  <a:srgbClr val="334155"/>
                </a:solidFill>
                <a:latin typeface="Arial" pitchFamily="34" charset="0"/>
                <a:ea typeface="Arial" pitchFamily="34" charset="-122"/>
                <a:cs typeface="Arial" pitchFamily="34" charset="-120"/>
              </a:rPr>
              <a:t>• Trình diễn tải file dữ liệu thống kê kiểm thử JSON/CSV về máy.</a:t>
            </a:r>
            <a:endParaRPr lang="en-US" sz="1200" dirty="0"/>
          </a:p>
        </p:txBody>
      </p:sp>
      <p:sp>
        <p:nvSpPr>
          <p:cNvPr id="35" name="Shape 3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36" name="Shape 34"/>
          <p:cNvSpPr/>
          <p:nvPr/>
        </p:nvSpPr>
        <p:spPr>
          <a:xfrm>
            <a:off x="548640" y="5687568"/>
            <a:ext cx="109728" cy="658368"/>
          </a:xfrm>
          <a:prstGeom prst="rect">
            <a:avLst/>
          </a:prstGeom>
          <a:solidFill>
            <a:srgbClr val="1D4ED8"/>
          </a:solidFill>
          <a:ln/>
        </p:spPr>
      </p:sp>
      <p:sp>
        <p:nvSpPr>
          <p:cNvPr id="37" name="Text 3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CHUYỂN SANG LIVE DEMO: Mở trình duyệt tại http://localhost:8080/dashboard để thực nghiệm trực tiếp 6 bước kịch bản!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SỐ LIỆU THỰC NGHIỆM</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Kết Quả Đo Đạc Định Lượng Về Thông Lượng (Throughput)</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Dữ liệu thực nghiệm thu thập đồng nhất trên cùng một cấu hình phần cứng (16 Cores, Windows 11)</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15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15 / 18</a:t>
            </a:r>
            <a:endParaRPr lang="en-US" sz="1100" dirty="0"/>
          </a:p>
        </p:txBody>
      </p:sp>
      <p:sp>
        <p:nvSpPr>
          <p:cNvPr id="11" name="Shape 9"/>
          <p:cNvSpPr/>
          <p:nvPr/>
        </p:nvSpPr>
        <p:spPr>
          <a:xfrm>
            <a:off x="548640" y="1554480"/>
            <a:ext cx="5413248" cy="4023360"/>
          </a:xfrm>
          <a:prstGeom prst="roundRect">
            <a:avLst>
              <a:gd name="adj" fmla="val 2273"/>
            </a:avLst>
          </a:prstGeom>
          <a:solidFill>
            <a:srgbClr val="FFFFFF"/>
          </a:solidFill>
          <a:ln w="19050">
            <a:solidFill>
              <a:srgbClr val="CBD5E1"/>
            </a:solidFill>
            <a:prstDash val="solid"/>
          </a:ln>
        </p:spPr>
      </p:sp>
      <p:sp>
        <p:nvSpPr>
          <p:cNvPr id="12" name="Text 10"/>
          <p:cNvSpPr/>
          <p:nvPr/>
        </p:nvSpPr>
        <p:spPr>
          <a:xfrm>
            <a:off x="777240" y="1691640"/>
            <a:ext cx="4937760" cy="3200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  THÔNG LƯỢNG THỰC NGHIỆM (REQUESTS / SEC)</a:t>
            </a:r>
            <a:endParaRPr lang="en-US" sz="1200" dirty="0"/>
          </a:p>
        </p:txBody>
      </p:sp>
      <p:sp>
        <p:nvSpPr>
          <p:cNvPr id="13" name="Text 11"/>
          <p:cNvSpPr/>
          <p:nvPr/>
        </p:nvSpPr>
        <p:spPr>
          <a:xfrm>
            <a:off x="777240" y="2148840"/>
            <a:ext cx="2103120" cy="2286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Mode 1 (Đơn luồng)</a:t>
            </a:r>
            <a:endParaRPr lang="en-US" sz="1250" dirty="0"/>
          </a:p>
        </p:txBody>
      </p:sp>
      <p:sp>
        <p:nvSpPr>
          <p:cNvPr id="14" name="Shape 12"/>
          <p:cNvSpPr/>
          <p:nvPr/>
        </p:nvSpPr>
        <p:spPr>
          <a:xfrm>
            <a:off x="777240" y="2386584"/>
            <a:ext cx="3840480" cy="201168"/>
          </a:xfrm>
          <a:prstGeom prst="roundRect">
            <a:avLst>
              <a:gd name="adj" fmla="val 36364"/>
            </a:avLst>
          </a:prstGeom>
          <a:solidFill>
            <a:srgbClr val="F1F5F9"/>
          </a:solidFill>
          <a:ln w="12700">
            <a:solidFill>
              <a:srgbClr val="E2E8F0"/>
            </a:solidFill>
            <a:prstDash val="solid"/>
          </a:ln>
        </p:spPr>
      </p:sp>
      <p:sp>
        <p:nvSpPr>
          <p:cNvPr id="15" name="Shape 13"/>
          <p:cNvSpPr/>
          <p:nvPr/>
        </p:nvSpPr>
        <p:spPr>
          <a:xfrm>
            <a:off x="777240" y="2386584"/>
            <a:ext cx="192024" cy="201168"/>
          </a:xfrm>
          <a:prstGeom prst="roundRect">
            <a:avLst>
              <a:gd name="adj" fmla="val 38095"/>
            </a:avLst>
          </a:prstGeom>
          <a:solidFill>
            <a:srgbClr val="64748B"/>
          </a:solidFill>
          <a:ln/>
        </p:spPr>
      </p:sp>
      <p:sp>
        <p:nvSpPr>
          <p:cNvPr id="16" name="Text 14"/>
          <p:cNvSpPr/>
          <p:nvPr/>
        </p:nvSpPr>
        <p:spPr>
          <a:xfrm>
            <a:off x="4663440" y="2286000"/>
            <a:ext cx="1188720" cy="320040"/>
          </a:xfrm>
          <a:prstGeom prst="rect">
            <a:avLst/>
          </a:prstGeom>
          <a:noFill/>
          <a:ln/>
        </p:spPr>
        <p:txBody>
          <a:bodyPr wrap="square" rtlCol="0" anchor="ctr"/>
          <a:lstStyle/>
          <a:p>
            <a:pPr indent="0" marL="0">
              <a:buNone/>
            </a:pPr>
            <a:r>
              <a:rPr lang="en-US" sz="1350" b="1" dirty="0">
                <a:solidFill>
                  <a:srgbClr val="64748B"/>
                </a:solidFill>
                <a:latin typeface="Arial" pitchFamily="34" charset="0"/>
                <a:ea typeface="Arial" pitchFamily="34" charset="-122"/>
                <a:cs typeface="Arial" pitchFamily="34" charset="-120"/>
              </a:rPr>
              <a:t>~9.8 RPS</a:t>
            </a:r>
            <a:endParaRPr lang="en-US" sz="1350" dirty="0"/>
          </a:p>
        </p:txBody>
      </p:sp>
      <p:sp>
        <p:nvSpPr>
          <p:cNvPr id="17" name="Text 15"/>
          <p:cNvSpPr/>
          <p:nvPr/>
        </p:nvSpPr>
        <p:spPr>
          <a:xfrm>
            <a:off x="777240" y="2770632"/>
            <a:ext cx="2103120" cy="2286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Mode 5 (Custom Pool 30%)</a:t>
            </a:r>
            <a:endParaRPr lang="en-US" sz="1250" dirty="0"/>
          </a:p>
        </p:txBody>
      </p:sp>
      <p:sp>
        <p:nvSpPr>
          <p:cNvPr id="18" name="Shape 16"/>
          <p:cNvSpPr/>
          <p:nvPr/>
        </p:nvSpPr>
        <p:spPr>
          <a:xfrm>
            <a:off x="777240" y="3008376"/>
            <a:ext cx="3840480" cy="201168"/>
          </a:xfrm>
          <a:prstGeom prst="roundRect">
            <a:avLst>
              <a:gd name="adj" fmla="val 36364"/>
            </a:avLst>
          </a:prstGeom>
          <a:solidFill>
            <a:srgbClr val="F1F5F9"/>
          </a:solidFill>
          <a:ln w="12700">
            <a:solidFill>
              <a:srgbClr val="E2E8F0"/>
            </a:solidFill>
            <a:prstDash val="solid"/>
          </a:ln>
        </p:spPr>
      </p:sp>
      <p:sp>
        <p:nvSpPr>
          <p:cNvPr id="19" name="Shape 17"/>
          <p:cNvSpPr/>
          <p:nvPr/>
        </p:nvSpPr>
        <p:spPr>
          <a:xfrm>
            <a:off x="777240" y="3008376"/>
            <a:ext cx="768096" cy="201168"/>
          </a:xfrm>
          <a:prstGeom prst="roundRect">
            <a:avLst>
              <a:gd name="adj" fmla="val 36364"/>
            </a:avLst>
          </a:prstGeom>
          <a:solidFill>
            <a:srgbClr val="7C3AED"/>
          </a:solidFill>
          <a:ln/>
        </p:spPr>
      </p:sp>
      <p:sp>
        <p:nvSpPr>
          <p:cNvPr id="20" name="Text 18"/>
          <p:cNvSpPr/>
          <p:nvPr/>
        </p:nvSpPr>
        <p:spPr>
          <a:xfrm>
            <a:off x="4663440" y="2907792"/>
            <a:ext cx="1188720" cy="320040"/>
          </a:xfrm>
          <a:prstGeom prst="rect">
            <a:avLst/>
          </a:prstGeom>
          <a:noFill/>
          <a:ln/>
        </p:spPr>
        <p:txBody>
          <a:bodyPr wrap="square" rtlCol="0" anchor="ctr"/>
          <a:lstStyle/>
          <a:p>
            <a:pPr indent="0" marL="0">
              <a:buNone/>
            </a:pPr>
            <a:r>
              <a:rPr lang="en-US" sz="1350" b="1" dirty="0">
                <a:solidFill>
                  <a:srgbClr val="7C3AED"/>
                </a:solidFill>
                <a:latin typeface="Arial" pitchFamily="34" charset="0"/>
                <a:ea typeface="Arial" pitchFamily="34" charset="-122"/>
                <a:cs typeface="Arial" pitchFamily="34" charset="-120"/>
              </a:rPr>
              <a:t>~148.6 RPS</a:t>
            </a:r>
            <a:endParaRPr lang="en-US" sz="1350" dirty="0"/>
          </a:p>
        </p:txBody>
      </p:sp>
      <p:sp>
        <p:nvSpPr>
          <p:cNvPr id="21" name="Text 19"/>
          <p:cNvSpPr/>
          <p:nvPr/>
        </p:nvSpPr>
        <p:spPr>
          <a:xfrm>
            <a:off x="777240" y="3392424"/>
            <a:ext cx="2103120" cy="2286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Mode 3 (Worker Pool)</a:t>
            </a:r>
            <a:endParaRPr lang="en-US" sz="1250" dirty="0"/>
          </a:p>
        </p:txBody>
      </p:sp>
      <p:sp>
        <p:nvSpPr>
          <p:cNvPr id="22" name="Shape 20"/>
          <p:cNvSpPr/>
          <p:nvPr/>
        </p:nvSpPr>
        <p:spPr>
          <a:xfrm>
            <a:off x="777240" y="3630168"/>
            <a:ext cx="3840480" cy="201168"/>
          </a:xfrm>
          <a:prstGeom prst="roundRect">
            <a:avLst>
              <a:gd name="adj" fmla="val 36364"/>
            </a:avLst>
          </a:prstGeom>
          <a:solidFill>
            <a:srgbClr val="F1F5F9"/>
          </a:solidFill>
          <a:ln w="12700">
            <a:solidFill>
              <a:srgbClr val="E2E8F0"/>
            </a:solidFill>
            <a:prstDash val="solid"/>
          </a:ln>
        </p:spPr>
      </p:sp>
      <p:sp>
        <p:nvSpPr>
          <p:cNvPr id="23" name="Shape 21"/>
          <p:cNvSpPr/>
          <p:nvPr/>
        </p:nvSpPr>
        <p:spPr>
          <a:xfrm>
            <a:off x="777240" y="3630168"/>
            <a:ext cx="844906" cy="201168"/>
          </a:xfrm>
          <a:prstGeom prst="roundRect">
            <a:avLst>
              <a:gd name="adj" fmla="val 36364"/>
            </a:avLst>
          </a:prstGeom>
          <a:solidFill>
            <a:srgbClr val="D97706"/>
          </a:solidFill>
          <a:ln/>
        </p:spPr>
      </p:sp>
      <p:sp>
        <p:nvSpPr>
          <p:cNvPr id="24" name="Text 22"/>
          <p:cNvSpPr/>
          <p:nvPr/>
        </p:nvSpPr>
        <p:spPr>
          <a:xfrm>
            <a:off x="4663440" y="3529584"/>
            <a:ext cx="1188720" cy="320040"/>
          </a:xfrm>
          <a:prstGeom prst="rect">
            <a:avLst/>
          </a:prstGeom>
          <a:noFill/>
          <a:ln/>
        </p:spPr>
        <p:txBody>
          <a:bodyPr wrap="square" rtlCol="0" anchor="ctr"/>
          <a:lstStyle/>
          <a:p>
            <a:pPr indent="0" marL="0">
              <a:buNone/>
            </a:pPr>
            <a:r>
              <a:rPr lang="en-US" sz="1350" b="1" dirty="0">
                <a:solidFill>
                  <a:srgbClr val="D97706"/>
                </a:solidFill>
                <a:latin typeface="Arial" pitchFamily="34" charset="0"/>
                <a:ea typeface="Arial" pitchFamily="34" charset="-122"/>
                <a:cs typeface="Arial" pitchFamily="34" charset="-120"/>
              </a:rPr>
              <a:t>~152.0 RPS</a:t>
            </a:r>
            <a:endParaRPr lang="en-US" sz="1350" dirty="0"/>
          </a:p>
        </p:txBody>
      </p:sp>
      <p:sp>
        <p:nvSpPr>
          <p:cNvPr id="25" name="Text 23"/>
          <p:cNvSpPr/>
          <p:nvPr/>
        </p:nvSpPr>
        <p:spPr>
          <a:xfrm>
            <a:off x="777240" y="4014216"/>
            <a:ext cx="2103120" cy="2286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Mode 2 (Thread/Conn)</a:t>
            </a:r>
            <a:endParaRPr lang="en-US" sz="1250" dirty="0"/>
          </a:p>
        </p:txBody>
      </p:sp>
      <p:sp>
        <p:nvSpPr>
          <p:cNvPr id="26" name="Shape 24"/>
          <p:cNvSpPr/>
          <p:nvPr/>
        </p:nvSpPr>
        <p:spPr>
          <a:xfrm>
            <a:off x="777240" y="4251960"/>
            <a:ext cx="3840480" cy="201168"/>
          </a:xfrm>
          <a:prstGeom prst="roundRect">
            <a:avLst>
              <a:gd name="adj" fmla="val 36364"/>
            </a:avLst>
          </a:prstGeom>
          <a:solidFill>
            <a:srgbClr val="F1F5F9"/>
          </a:solidFill>
          <a:ln w="12700">
            <a:solidFill>
              <a:srgbClr val="E2E8F0"/>
            </a:solidFill>
            <a:prstDash val="solid"/>
          </a:ln>
        </p:spPr>
      </p:sp>
      <p:sp>
        <p:nvSpPr>
          <p:cNvPr id="27" name="Shape 25"/>
          <p:cNvSpPr/>
          <p:nvPr/>
        </p:nvSpPr>
        <p:spPr>
          <a:xfrm>
            <a:off x="777240" y="4251960"/>
            <a:ext cx="1459382" cy="201168"/>
          </a:xfrm>
          <a:prstGeom prst="roundRect">
            <a:avLst>
              <a:gd name="adj" fmla="val 36364"/>
            </a:avLst>
          </a:prstGeom>
          <a:solidFill>
            <a:srgbClr val="E11D48"/>
          </a:solidFill>
          <a:ln/>
        </p:spPr>
      </p:sp>
      <p:sp>
        <p:nvSpPr>
          <p:cNvPr id="28" name="Text 26"/>
          <p:cNvSpPr/>
          <p:nvPr/>
        </p:nvSpPr>
        <p:spPr>
          <a:xfrm>
            <a:off x="4663440" y="4151376"/>
            <a:ext cx="1188720" cy="320040"/>
          </a:xfrm>
          <a:prstGeom prst="rect">
            <a:avLst/>
          </a:prstGeom>
          <a:noFill/>
          <a:ln/>
        </p:spPr>
        <p:txBody>
          <a:bodyPr wrap="square" rtlCol="0" anchor="ctr"/>
          <a:lstStyle/>
          <a:p>
            <a:pPr indent="0" marL="0">
              <a:buNone/>
            </a:pPr>
            <a:r>
              <a:rPr lang="en-US" sz="1350" b="1" dirty="0">
                <a:solidFill>
                  <a:srgbClr val="E11D48"/>
                </a:solidFill>
                <a:latin typeface="Arial" pitchFamily="34" charset="0"/>
                <a:ea typeface="Arial" pitchFamily="34" charset="-122"/>
                <a:cs typeface="Arial" pitchFamily="34" charset="-120"/>
              </a:rPr>
              <a:t>~285.4 RPS</a:t>
            </a:r>
            <a:endParaRPr lang="en-US" sz="1350" dirty="0"/>
          </a:p>
        </p:txBody>
      </p:sp>
      <p:sp>
        <p:nvSpPr>
          <p:cNvPr id="29" name="Text 27"/>
          <p:cNvSpPr/>
          <p:nvPr/>
        </p:nvSpPr>
        <p:spPr>
          <a:xfrm>
            <a:off x="777240" y="4636008"/>
            <a:ext cx="2103120" cy="22860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Mode 4 (Virtual Threads)</a:t>
            </a:r>
            <a:endParaRPr lang="en-US" sz="1250" dirty="0"/>
          </a:p>
        </p:txBody>
      </p:sp>
      <p:sp>
        <p:nvSpPr>
          <p:cNvPr id="30" name="Shape 28"/>
          <p:cNvSpPr/>
          <p:nvPr/>
        </p:nvSpPr>
        <p:spPr>
          <a:xfrm>
            <a:off x="777240" y="4873752"/>
            <a:ext cx="3840480" cy="201168"/>
          </a:xfrm>
          <a:prstGeom prst="roundRect">
            <a:avLst>
              <a:gd name="adj" fmla="val 36364"/>
            </a:avLst>
          </a:prstGeom>
          <a:solidFill>
            <a:srgbClr val="F1F5F9"/>
          </a:solidFill>
          <a:ln w="12700">
            <a:solidFill>
              <a:srgbClr val="E2E8F0"/>
            </a:solidFill>
            <a:prstDash val="solid"/>
          </a:ln>
        </p:spPr>
      </p:sp>
      <p:sp>
        <p:nvSpPr>
          <p:cNvPr id="31" name="Shape 29"/>
          <p:cNvSpPr/>
          <p:nvPr/>
        </p:nvSpPr>
        <p:spPr>
          <a:xfrm>
            <a:off x="777240" y="4873752"/>
            <a:ext cx="3648456" cy="201168"/>
          </a:xfrm>
          <a:prstGeom prst="roundRect">
            <a:avLst>
              <a:gd name="adj" fmla="val 36364"/>
            </a:avLst>
          </a:prstGeom>
          <a:solidFill>
            <a:srgbClr val="059669"/>
          </a:solidFill>
          <a:ln/>
        </p:spPr>
      </p:sp>
      <p:sp>
        <p:nvSpPr>
          <p:cNvPr id="32" name="Text 30"/>
          <p:cNvSpPr/>
          <p:nvPr/>
        </p:nvSpPr>
        <p:spPr>
          <a:xfrm>
            <a:off x="4663440" y="4773168"/>
            <a:ext cx="1188720" cy="320040"/>
          </a:xfrm>
          <a:prstGeom prst="rect">
            <a:avLst/>
          </a:prstGeom>
          <a:noFill/>
          <a:ln/>
        </p:spPr>
        <p:txBody>
          <a:bodyPr wrap="square" rtlCol="0" anchor="ctr"/>
          <a:lstStyle/>
          <a:p>
            <a:pPr indent="0" marL="0">
              <a:buNone/>
            </a:pPr>
            <a:r>
              <a:rPr lang="en-US" sz="1350" b="1" dirty="0">
                <a:solidFill>
                  <a:srgbClr val="059669"/>
                </a:solidFill>
                <a:latin typeface="Arial" pitchFamily="34" charset="0"/>
                <a:ea typeface="Arial" pitchFamily="34" charset="-122"/>
                <a:cs typeface="Arial" pitchFamily="34" charset="-120"/>
              </a:rPr>
              <a:t>~1,145.2 RPS</a:t>
            </a:r>
            <a:endParaRPr lang="en-US" sz="1350" dirty="0"/>
          </a:p>
        </p:txBody>
      </p:sp>
      <p:sp>
        <p:nvSpPr>
          <p:cNvPr id="33" name="Shape 31"/>
          <p:cNvSpPr/>
          <p:nvPr/>
        </p:nvSpPr>
        <p:spPr>
          <a:xfrm>
            <a:off x="6227064" y="1554480"/>
            <a:ext cx="5413248" cy="4023360"/>
          </a:xfrm>
          <a:prstGeom prst="roundRect">
            <a:avLst>
              <a:gd name="adj" fmla="val 2273"/>
            </a:avLst>
          </a:prstGeom>
          <a:solidFill>
            <a:srgbClr val="FFFFFF"/>
          </a:solidFill>
          <a:ln w="19050">
            <a:solidFill>
              <a:srgbClr val="059669"/>
            </a:solidFill>
            <a:prstDash val="solid"/>
          </a:ln>
        </p:spPr>
      </p:sp>
      <p:sp>
        <p:nvSpPr>
          <p:cNvPr id="34" name="Shape 32"/>
          <p:cNvSpPr/>
          <p:nvPr/>
        </p:nvSpPr>
        <p:spPr>
          <a:xfrm>
            <a:off x="6227064" y="1554480"/>
            <a:ext cx="5413248" cy="73152"/>
          </a:xfrm>
          <a:prstGeom prst="roundRect">
            <a:avLst/>
          </a:prstGeom>
          <a:solidFill>
            <a:srgbClr val="059669"/>
          </a:solidFill>
          <a:ln/>
        </p:spPr>
      </p:sp>
      <p:sp>
        <p:nvSpPr>
          <p:cNvPr id="35" name="Text 33"/>
          <p:cNvSpPr/>
          <p:nvPr/>
        </p:nvSpPr>
        <p:spPr>
          <a:xfrm>
            <a:off x="6446520" y="1691640"/>
            <a:ext cx="3840480" cy="320040"/>
          </a:xfrm>
          <a:prstGeom prst="rect">
            <a:avLst/>
          </a:prstGeom>
          <a:noFill/>
          <a:ln/>
        </p:spPr>
        <p:txBody>
          <a:bodyPr wrap="square" rtlCol="0" anchor="ctr"/>
          <a:lstStyle/>
          <a:p>
            <a:pPr indent="0" marL="0">
              <a:buNone/>
            </a:pPr>
            <a:r>
              <a:rPr lang="en-US" sz="1650" b="1" dirty="0">
                <a:solidFill>
                  <a:srgbClr val="0F172A"/>
                </a:solidFill>
                <a:latin typeface="Arial" pitchFamily="34" charset="0"/>
                <a:ea typeface="Arial" pitchFamily="34" charset="-122"/>
                <a:cs typeface="Arial" pitchFamily="34" charset="-120"/>
              </a:rPr>
              <a:t>🚀  Đột Phá Thông Lượng (Throughput)</a:t>
            </a:r>
            <a:endParaRPr lang="en-US" sz="1650" dirty="0"/>
          </a:p>
        </p:txBody>
      </p:sp>
      <p:sp>
        <p:nvSpPr>
          <p:cNvPr id="36" name="Shape 34"/>
          <p:cNvSpPr/>
          <p:nvPr/>
        </p:nvSpPr>
        <p:spPr>
          <a:xfrm>
            <a:off x="6446520" y="2148840"/>
            <a:ext cx="2377440" cy="777240"/>
          </a:xfrm>
          <a:prstGeom prst="roundRect">
            <a:avLst>
              <a:gd name="adj" fmla="val 9412"/>
            </a:avLst>
          </a:prstGeom>
          <a:solidFill>
            <a:srgbClr val="ECFDF5"/>
          </a:solidFill>
          <a:ln w="12700">
            <a:solidFill>
              <a:srgbClr val="A7F3D0"/>
            </a:solidFill>
            <a:prstDash val="solid"/>
          </a:ln>
        </p:spPr>
      </p:sp>
      <p:sp>
        <p:nvSpPr>
          <p:cNvPr id="37" name="Text 35"/>
          <p:cNvSpPr/>
          <p:nvPr/>
        </p:nvSpPr>
        <p:spPr>
          <a:xfrm>
            <a:off x="6537960" y="2194560"/>
            <a:ext cx="2194560" cy="685800"/>
          </a:xfrm>
          <a:prstGeom prst="rect">
            <a:avLst/>
          </a:prstGeom>
          <a:noFill/>
          <a:ln/>
        </p:spPr>
        <p:txBody>
          <a:bodyPr wrap="square" rtlCol="0" anchor="ctr"/>
          <a:lstStyle/>
          <a:p>
            <a:pPr indent="0" marL="0">
              <a:buNone/>
            </a:pPr>
            <a:r>
              <a:rPr lang="en-US" sz="2400" b="1" dirty="0">
                <a:solidFill>
                  <a:srgbClr val="059669"/>
                </a:solidFill>
              </a:rPr>
              <a:t>1,145 RPS
</a:t>
            </a:r>
            <a:pPr indent="0" marL="0">
              <a:buNone/>
            </a:pPr>
            <a:r>
              <a:rPr lang="en-US" sz="1150" b="1" dirty="0">
                <a:solidFill>
                  <a:srgbClr val="334155"/>
                </a:solidFill>
              </a:rPr>
              <a:t>Dẫn đầu tuyệt đối ở tải cao</a:t>
            </a:r>
            <a:endParaRPr lang="en-US" sz="2400" dirty="0"/>
          </a:p>
        </p:txBody>
      </p:sp>
      <p:sp>
        <p:nvSpPr>
          <p:cNvPr id="38" name="Shape 36"/>
          <p:cNvSpPr/>
          <p:nvPr/>
        </p:nvSpPr>
        <p:spPr>
          <a:xfrm>
            <a:off x="9006840" y="2148840"/>
            <a:ext cx="2377440" cy="777240"/>
          </a:xfrm>
          <a:prstGeom prst="roundRect">
            <a:avLst>
              <a:gd name="adj" fmla="val 9412"/>
            </a:avLst>
          </a:prstGeom>
          <a:solidFill>
            <a:srgbClr val="ECFDF5"/>
          </a:solidFill>
          <a:ln w="12700">
            <a:solidFill>
              <a:srgbClr val="A7F3D0"/>
            </a:solidFill>
            <a:prstDash val="solid"/>
          </a:ln>
        </p:spPr>
      </p:sp>
      <p:sp>
        <p:nvSpPr>
          <p:cNvPr id="39" name="Text 37"/>
          <p:cNvSpPr/>
          <p:nvPr/>
        </p:nvSpPr>
        <p:spPr>
          <a:xfrm>
            <a:off x="9098280" y="2194560"/>
            <a:ext cx="2194560" cy="685800"/>
          </a:xfrm>
          <a:prstGeom prst="rect">
            <a:avLst/>
          </a:prstGeom>
          <a:noFill/>
          <a:ln/>
        </p:spPr>
        <p:txBody>
          <a:bodyPr wrap="square" rtlCol="0" anchor="ctr"/>
          <a:lstStyle/>
          <a:p>
            <a:pPr indent="0" marL="0">
              <a:buNone/>
            </a:pPr>
            <a:r>
              <a:rPr lang="en-US" sz="2400" b="1" dirty="0">
                <a:solidFill>
                  <a:srgbClr val="059669"/>
                </a:solidFill>
              </a:rPr>
              <a:t>7.5x Lần
</a:t>
            </a:r>
            <a:pPr indent="0" marL="0">
              <a:buNone/>
            </a:pPr>
            <a:r>
              <a:rPr lang="en-US" sz="1150" b="1" dirty="0">
                <a:solidFill>
                  <a:srgbClr val="334155"/>
                </a:solidFill>
              </a:rPr>
              <a:t>Tăng tốc so với Worker Pool</a:t>
            </a:r>
            <a:endParaRPr lang="en-US" sz="2400" dirty="0"/>
          </a:p>
        </p:txBody>
      </p:sp>
      <p:sp>
        <p:nvSpPr>
          <p:cNvPr id="40" name="Shape 38"/>
          <p:cNvSpPr/>
          <p:nvPr/>
        </p:nvSpPr>
        <p:spPr>
          <a:xfrm>
            <a:off x="6446520" y="3063240"/>
            <a:ext cx="4937760" cy="658368"/>
          </a:xfrm>
          <a:prstGeom prst="roundRect">
            <a:avLst>
              <a:gd name="adj" fmla="val 11111"/>
            </a:avLst>
          </a:prstGeom>
          <a:solidFill>
            <a:srgbClr val="F8FAFC"/>
          </a:solidFill>
          <a:ln w="12700">
            <a:solidFill>
              <a:srgbClr val="E2E8F0"/>
            </a:solidFill>
            <a:prstDash val="solid"/>
          </a:ln>
        </p:spPr>
      </p:sp>
      <p:sp>
        <p:nvSpPr>
          <p:cNvPr id="41" name="Text 39"/>
          <p:cNvSpPr/>
          <p:nvPr/>
        </p:nvSpPr>
        <p:spPr>
          <a:xfrm>
            <a:off x="6537960" y="3108960"/>
            <a:ext cx="4754880" cy="566928"/>
          </a:xfrm>
          <a:prstGeom prst="rect">
            <a:avLst/>
          </a:prstGeom>
          <a:noFill/>
          <a:ln/>
        </p:spPr>
        <p:txBody>
          <a:bodyPr wrap="square" rtlCol="0" anchor="ctr"/>
          <a:lstStyle/>
          <a:p>
            <a:pPr indent="0" marL="0">
              <a:buNone/>
            </a:pPr>
            <a:r>
              <a:rPr lang="en-US" sz="1400" b="1" dirty="0">
                <a:solidFill>
                  <a:srgbClr val="0F172A"/>
                </a:solidFill>
              </a:rPr>
              <a:t>🚀  Gấp 7.5 Lần Worker Thread Pool
</a:t>
            </a:r>
            <a:pPr indent="0" marL="0">
              <a:buNone/>
            </a:pPr>
            <a:r>
              <a:rPr lang="en-US" sz="1200" dirty="0">
                <a:solidFill>
                  <a:srgbClr val="334155"/>
                </a:solidFill>
              </a:rPr>
              <a:t>Virtual Threads nhả Carrier Thread ngay khi luồng bị block chờ Socket/I/O.</a:t>
            </a:r>
            <a:endParaRPr lang="en-US" sz="1400" dirty="0"/>
          </a:p>
        </p:txBody>
      </p:sp>
      <p:sp>
        <p:nvSpPr>
          <p:cNvPr id="42" name="Shape 40"/>
          <p:cNvSpPr/>
          <p:nvPr/>
        </p:nvSpPr>
        <p:spPr>
          <a:xfrm>
            <a:off x="6446520" y="3813048"/>
            <a:ext cx="4937760" cy="658368"/>
          </a:xfrm>
          <a:prstGeom prst="roundRect">
            <a:avLst>
              <a:gd name="adj" fmla="val 11111"/>
            </a:avLst>
          </a:prstGeom>
          <a:solidFill>
            <a:srgbClr val="F8FAFC"/>
          </a:solidFill>
          <a:ln w="12700">
            <a:solidFill>
              <a:srgbClr val="E2E8F0"/>
            </a:solidFill>
            <a:prstDash val="solid"/>
          </a:ln>
        </p:spPr>
      </p:sp>
      <p:sp>
        <p:nvSpPr>
          <p:cNvPr id="43" name="Text 41"/>
          <p:cNvSpPr/>
          <p:nvPr/>
        </p:nvSpPr>
        <p:spPr>
          <a:xfrm>
            <a:off x="6537960" y="3858768"/>
            <a:ext cx="4754880" cy="566928"/>
          </a:xfrm>
          <a:prstGeom prst="rect">
            <a:avLst/>
          </a:prstGeom>
          <a:noFill/>
          <a:ln/>
        </p:spPr>
        <p:txBody>
          <a:bodyPr wrap="square" rtlCol="0" anchor="ctr"/>
          <a:lstStyle/>
          <a:p>
            <a:pPr indent="0" marL="0">
              <a:buNone/>
            </a:pPr>
            <a:r>
              <a:rPr lang="en-US" sz="1400" b="1" dirty="0">
                <a:solidFill>
                  <a:srgbClr val="0F172A"/>
                </a:solidFill>
              </a:rPr>
              <a:t>⚙️  Mode 5 Tự Viết Đạt 98% Hiệu Năng
</a:t>
            </a:r>
            <a:pPr indent="0" marL="0">
              <a:buNone/>
            </a:pPr>
            <a:r>
              <a:rPr lang="en-US" sz="1200" dirty="0">
                <a:solidFill>
                  <a:srgbClr val="334155"/>
                </a:solidFill>
              </a:rPr>
              <a:t>CustomThreadPool mảng vòng O(1) bám sát năng lực thư viện chuẩn của Oracle.</a:t>
            </a:r>
            <a:endParaRPr lang="en-US" sz="1400" dirty="0"/>
          </a:p>
        </p:txBody>
      </p:sp>
      <p:sp>
        <p:nvSpPr>
          <p:cNvPr id="44" name="Shape 42"/>
          <p:cNvSpPr/>
          <p:nvPr/>
        </p:nvSpPr>
        <p:spPr>
          <a:xfrm>
            <a:off x="6446520" y="4562856"/>
            <a:ext cx="4937760" cy="658368"/>
          </a:xfrm>
          <a:prstGeom prst="roundRect">
            <a:avLst>
              <a:gd name="adj" fmla="val 11111"/>
            </a:avLst>
          </a:prstGeom>
          <a:solidFill>
            <a:srgbClr val="F8FAFC"/>
          </a:solidFill>
          <a:ln w="12700">
            <a:solidFill>
              <a:srgbClr val="E2E8F0"/>
            </a:solidFill>
            <a:prstDash val="solid"/>
          </a:ln>
        </p:spPr>
      </p:sp>
      <p:sp>
        <p:nvSpPr>
          <p:cNvPr id="45" name="Text 43"/>
          <p:cNvSpPr/>
          <p:nvPr/>
        </p:nvSpPr>
        <p:spPr>
          <a:xfrm>
            <a:off x="6537960" y="4608576"/>
            <a:ext cx="4754880" cy="566928"/>
          </a:xfrm>
          <a:prstGeom prst="rect">
            <a:avLst/>
          </a:prstGeom>
          <a:noFill/>
          <a:ln/>
        </p:spPr>
        <p:txBody>
          <a:bodyPr wrap="square" rtlCol="0" anchor="ctr"/>
          <a:lstStyle/>
          <a:p>
            <a:pPr indent="0" marL="0">
              <a:buNone/>
            </a:pPr>
            <a:r>
              <a:rPr lang="en-US" sz="1400" b="1" dirty="0">
                <a:solidFill>
                  <a:srgbClr val="0F172A"/>
                </a:solidFill>
              </a:rPr>
              <a:t>📈  Mở Rộng Tuyến Tính Không OOM
</a:t>
            </a:r>
            <a:pPr indent="0" marL="0">
              <a:buNone/>
            </a:pPr>
            <a:r>
              <a:rPr lang="en-US" sz="1200" dirty="0">
                <a:solidFill>
                  <a:srgbClr val="334155"/>
                </a:solidFill>
              </a:rPr>
              <a:t>Phục vụ hàng chục ngàn kết nối mà không làm sập máy chủ như Mode 2.</a:t>
            </a:r>
            <a:endParaRPr lang="en-US" sz="1400" dirty="0"/>
          </a:p>
        </p:txBody>
      </p:sp>
      <p:sp>
        <p:nvSpPr>
          <p:cNvPr id="46" name="Shape 44"/>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7" name="Shape 45"/>
          <p:cNvSpPr/>
          <p:nvPr/>
        </p:nvSpPr>
        <p:spPr>
          <a:xfrm>
            <a:off x="548640" y="5687568"/>
            <a:ext cx="109728" cy="658368"/>
          </a:xfrm>
          <a:prstGeom prst="rect">
            <a:avLst/>
          </a:prstGeom>
          <a:solidFill>
            <a:srgbClr val="1D4ED8"/>
          </a:solidFill>
          <a:ln/>
        </p:spPr>
      </p:sp>
      <p:sp>
        <p:nvSpPr>
          <p:cNvPr id="48" name="Text 46"/>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KẾT LUẬN THỰC NGHIỆM: Java 21 Virtual Threads mang lại bước nhảy vọt 7.5x thông lượng so với Pool cố định và 116x so với đơn luồng!</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PHÂN TÍCH CHUYÊN SÂU</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Phân Tích Phân Vị Độ Trễ (P50, P95, P99 Latency)</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Tại sao phân vị độ trễ quan trọng hơn độ trễ trung bình trong cam kết SLA dịch vụ mạng?</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16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16 / 18</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3931920"/>
        </p:xfrm>
        <a:graphic>
          <a:graphicData uri="http://schemas.openxmlformats.org/drawingml/2006/table">
            <a:tbl>
              <a:tblPr/>
              <a:tblGrid>
                <a:gridCol w="2560320"/>
                <a:gridCol w="1645920"/>
                <a:gridCol w="1691640"/>
                <a:gridCol w="1691640"/>
                <a:gridCol w="1691640"/>
                <a:gridCol w="1810512"/>
              </a:tblGrid>
              <a:tr h="59436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MÔ HÌNH LUỒNG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ĐỘ TRỄ TB (Avg)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PHÂN VỊ P50</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(Median)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PHÂN VỊ P95</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(95% Client)</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PHÂN VỊ P99</a:t>
                      </a:r>
                      <a:endParaRPr lang="en-US" sz="1200" dirty="0">
                        <a:latin typeface="Arial" charset="0"/>
                        <a:ea typeface="Arial" charset="0"/>
                        <a:cs typeface="Arial" charset="0"/>
                      </a:endParaRPr>
                    </a:p>
                    <a:p>
                      <a:pPr algn="ctr" indent="0" marL="0">
                        <a:buNone/>
                      </a:pPr>
                      <a:r>
                        <a:rPr lang="en-US" sz="1200" b="1" dirty="0">
                          <a:solidFill>
                            <a:srgbClr val="FFFFFF"/>
                          </a:solidFill>
                          <a:latin typeface="Arial" pitchFamily="34" charset="0"/>
                          <a:ea typeface="Arial" pitchFamily="34" charset="-122"/>
                          <a:cs typeface="Arial" pitchFamily="34" charset="-120"/>
                        </a:rPr>
                        <a:t>(Độ trễ đuôi)</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ĐÁNH GIÁ SLA</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Mode 1 (Iterative Single)</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3,020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3,000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3,050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3,120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E11D48"/>
                          </a:solidFill>
                          <a:latin typeface="Arial" pitchFamily="34" charset="0"/>
                          <a:ea typeface="Arial" pitchFamily="34" charset="-122"/>
                          <a:cs typeface="Arial" pitchFamily="34" charset="-120"/>
                        </a:rPr>
                        <a:t>Sập SLA (&gt; 3 giây)</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Mode 2 (Thread-per-Conn)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115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102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210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D97706"/>
                          </a:solidFill>
                          <a:latin typeface="Arial" pitchFamily="34" charset="0"/>
                          <a:ea typeface="Arial" pitchFamily="34" charset="-122"/>
                          <a:cs typeface="Arial" pitchFamily="34" charset="-120"/>
                        </a:rPr>
                        <a:t>850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D97706"/>
                          </a:solidFill>
                          <a:latin typeface="Arial" pitchFamily="34" charset="0"/>
                          <a:ea typeface="Arial" pitchFamily="34" charset="-122"/>
                          <a:cs typeface="Arial" pitchFamily="34" charset="-120"/>
                        </a:rPr>
                        <a:t>Đuôi trễ cao (Tranh chấp)</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Mode 3 (Worker Pool)</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180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120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350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620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1D4ED8"/>
                          </a:solidFill>
                          <a:latin typeface="Arial" pitchFamily="34" charset="0"/>
                          <a:ea typeface="Arial" pitchFamily="34" charset="-122"/>
                          <a:cs typeface="Arial" pitchFamily="34" charset="-120"/>
                        </a:rPr>
                        <a:t>Ổn định, có kiểm soát</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00000"/>
                          </a:solidFill>
                          <a:latin typeface="Arial" pitchFamily="34" charset="0"/>
                          <a:ea typeface="Arial" pitchFamily="34" charset="-122"/>
                          <a:cs typeface="Arial" pitchFamily="34" charset="-120"/>
                        </a:rPr>
                        <a:t>Mode 5 (Custom Pool 30%)</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186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125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360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640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7C3AED"/>
                          </a:solidFill>
                          <a:latin typeface="Arial" pitchFamily="34" charset="0"/>
                          <a:ea typeface="Arial" pitchFamily="34" charset="-122"/>
                          <a:cs typeface="Arial" pitchFamily="34" charset="-120"/>
                        </a:rPr>
                        <a:t>Bám sát 98% Pool chuẩn</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200" b="1" dirty="0">
                          <a:solidFill>
                            <a:srgbClr val="059669"/>
                          </a:solidFill>
                          <a:latin typeface="Arial" pitchFamily="34" charset="0"/>
                          <a:ea typeface="Arial" pitchFamily="34" charset="-122"/>
                          <a:cs typeface="Arial" pitchFamily="34" charset="-120"/>
                        </a:rPr>
                        <a:t>Mode 4 (Virtual Threads)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104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101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112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128 ms</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059669"/>
                          </a:solidFill>
                          <a:latin typeface="Arial" pitchFamily="34" charset="0"/>
                          <a:ea typeface="Arial" pitchFamily="34" charset="-122"/>
                          <a:cs typeface="Arial" pitchFamily="34" charset="-120"/>
                        </a:rPr>
                        <a:t>Xuất Sắc (P99 cực phẳng)</a:t>
                      </a:r>
                      <a:endParaRPr lang="en-US" sz="12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2" name="Shape 9"/>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13" name="Shape 10"/>
          <p:cNvSpPr/>
          <p:nvPr/>
        </p:nvSpPr>
        <p:spPr>
          <a:xfrm>
            <a:off x="548640" y="5687568"/>
            <a:ext cx="109728" cy="658368"/>
          </a:xfrm>
          <a:prstGeom prst="rect">
            <a:avLst/>
          </a:prstGeom>
          <a:solidFill>
            <a:srgbClr val="1D4ED8"/>
          </a:solidFill>
          <a:ln/>
        </p:spPr>
      </p:sp>
      <p:sp>
        <p:nvSpPr>
          <p:cNvPr id="14" name="Text 11"/>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ĐỘ TRỄ ĐUÔI (TAIL LATENCY): Virtual Threads giải quyết triệt để hiện tượng trễ đuôi P99 (chỉ 128ms so với 850ms của luồng OS) nhờ loại bỏ hoàn toàn Context Switch!</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TỔNG KẾT ĐỒ ÁN</a:t>
            </a:r>
            <a:endParaRPr lang="en-US" sz="11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Kết Luận &amp; Đóng Góp Kỹ Thuật Của Đề Tài</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350" b="1" dirty="0">
                <a:solidFill>
                  <a:srgbClr val="334155"/>
                </a:solidFill>
                <a:latin typeface="Arial" pitchFamily="34" charset="0"/>
                <a:ea typeface="Arial" pitchFamily="34" charset="-122"/>
                <a:cs typeface="Arial" pitchFamily="34" charset="-120"/>
              </a:rPr>
              <a:t>Tổng kết toàn bộ thành quả đạt được và bài học rút ra trong suốt quá trình nghiên cứu</a:t>
            </a:r>
            <a:endParaRPr lang="en-US" sz="135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17 / 18</a:t>
            </a:r>
            <a:endParaRPr lang="en-US" sz="115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110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110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1100" b="1" dirty="0">
                <a:solidFill>
                  <a:srgbClr val="1D4ED8"/>
                </a:solidFill>
                <a:latin typeface="Arial" pitchFamily="34" charset="0"/>
                <a:ea typeface="Arial" pitchFamily="34" charset="-122"/>
                <a:cs typeface="Arial" pitchFamily="34" charset="-120"/>
              </a:rPr>
              <a:t>Slide 17 / 18</a:t>
            </a:r>
            <a:endParaRPr lang="en-US" sz="1100" dirty="0"/>
          </a:p>
        </p:txBody>
      </p:sp>
      <p:sp>
        <p:nvSpPr>
          <p:cNvPr id="11" name="Shape 9"/>
          <p:cNvSpPr/>
          <p:nvPr/>
        </p:nvSpPr>
        <p:spPr>
          <a:xfrm>
            <a:off x="548640" y="1536192"/>
            <a:ext cx="3511296" cy="4023360"/>
          </a:xfrm>
          <a:prstGeom prst="roundRect">
            <a:avLst>
              <a:gd name="adj" fmla="val 2604"/>
            </a:avLst>
          </a:prstGeom>
          <a:solidFill>
            <a:srgbClr val="FFFFFF"/>
          </a:solidFill>
          <a:ln w="19050">
            <a:solidFill>
              <a:srgbClr val="1D4ED8"/>
            </a:solidFill>
            <a:prstDash val="solid"/>
          </a:ln>
        </p:spPr>
      </p:sp>
      <p:sp>
        <p:nvSpPr>
          <p:cNvPr id="12" name="Shape 10"/>
          <p:cNvSpPr/>
          <p:nvPr/>
        </p:nvSpPr>
        <p:spPr>
          <a:xfrm>
            <a:off x="548640" y="1536192"/>
            <a:ext cx="3511296" cy="73152"/>
          </a:xfrm>
          <a:prstGeom prst="roundRect">
            <a:avLst/>
          </a:prstGeom>
          <a:solidFill>
            <a:srgbClr val="1D4ED8"/>
          </a:solidFill>
          <a:ln/>
        </p:spPr>
      </p:sp>
      <p:sp>
        <p:nvSpPr>
          <p:cNvPr id="13" name="Text 11"/>
          <p:cNvSpPr/>
          <p:nvPr/>
        </p:nvSpPr>
        <p:spPr>
          <a:xfrm>
            <a:off x="731520" y="1673352"/>
            <a:ext cx="2048256"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Làm Chủ Tầng Thấp</a:t>
            </a:r>
            <a:endParaRPr lang="en-US" sz="1400" dirty="0"/>
          </a:p>
        </p:txBody>
      </p:sp>
      <p:sp>
        <p:nvSpPr>
          <p:cNvPr id="14" name="Shape 12"/>
          <p:cNvSpPr/>
          <p:nvPr/>
        </p:nvSpPr>
        <p:spPr>
          <a:xfrm>
            <a:off x="2734056" y="1700784"/>
            <a:ext cx="1188720" cy="237744"/>
          </a:xfrm>
          <a:prstGeom prst="roundRect">
            <a:avLst>
              <a:gd name="adj" fmla="val 30769"/>
            </a:avLst>
          </a:prstGeom>
          <a:solidFill>
            <a:srgbClr val="EFF6FF"/>
          </a:solidFill>
          <a:ln w="12700">
            <a:solidFill>
              <a:srgbClr val="BFDBFE"/>
            </a:solidFill>
            <a:prstDash val="solid"/>
          </a:ln>
        </p:spPr>
      </p:sp>
      <p:sp>
        <p:nvSpPr>
          <p:cNvPr id="15" name="Text 13"/>
          <p:cNvSpPr/>
          <p:nvPr/>
        </p:nvSpPr>
        <p:spPr>
          <a:xfrm>
            <a:off x="2734056" y="1700784"/>
            <a:ext cx="1188720" cy="237744"/>
          </a:xfrm>
          <a:prstGeom prst="rect">
            <a:avLst/>
          </a:prstGeom>
          <a:noFill/>
          <a:ln/>
        </p:spPr>
        <p:txBody>
          <a:bodyPr wrap="square" rtlCol="0" anchor="ctr"/>
          <a:lstStyle/>
          <a:p>
            <a:pPr algn="ctr" indent="0" marL="0">
              <a:buNone/>
            </a:pPr>
            <a:r>
              <a:rPr lang="en-US" sz="1150" b="1" dirty="0">
                <a:solidFill>
                  <a:srgbClr val="1D4ED8"/>
                </a:solidFill>
                <a:latin typeface="Arial" pitchFamily="34" charset="0"/>
                <a:ea typeface="Arial" pitchFamily="34" charset="-122"/>
                <a:cs typeface="Arial" pitchFamily="34" charset="-120"/>
              </a:rPr>
              <a:t>SOCKET NGUYÊN BẢN</a:t>
            </a:r>
            <a:endParaRPr lang="en-US" sz="1150" dirty="0"/>
          </a:p>
        </p:txBody>
      </p:sp>
      <p:sp>
        <p:nvSpPr>
          <p:cNvPr id="16" name="Shape 14"/>
          <p:cNvSpPr/>
          <p:nvPr/>
        </p:nvSpPr>
        <p:spPr>
          <a:xfrm>
            <a:off x="731520" y="2221992"/>
            <a:ext cx="3145536" cy="1234440"/>
          </a:xfrm>
          <a:prstGeom prst="roundRect">
            <a:avLst>
              <a:gd name="adj" fmla="val 5926"/>
            </a:avLst>
          </a:prstGeom>
          <a:solidFill>
            <a:srgbClr val="F8FAFC"/>
          </a:solidFill>
          <a:ln w="12700">
            <a:solidFill>
              <a:srgbClr val="E2E8F0"/>
            </a:solidFill>
            <a:prstDash val="solid"/>
          </a:ln>
        </p:spPr>
      </p:sp>
      <p:sp>
        <p:nvSpPr>
          <p:cNvPr id="17" name="Text 15"/>
          <p:cNvSpPr/>
          <p:nvPr/>
        </p:nvSpPr>
        <p:spPr>
          <a:xfrm>
            <a:off x="822960" y="2313432"/>
            <a:ext cx="2962656" cy="1051560"/>
          </a:xfrm>
          <a:prstGeom prst="rect">
            <a:avLst/>
          </a:prstGeom>
          <a:noFill/>
          <a:ln/>
        </p:spPr>
        <p:txBody>
          <a:bodyPr wrap="square" rtlCol="0" anchor="t"/>
          <a:lstStyle/>
          <a:p>
            <a:pPr indent="0" marL="0">
              <a:buNone/>
            </a:pPr>
            <a:r>
              <a:rPr lang="en-US" sz="1400" b="1" dirty="0">
                <a:solidFill>
                  <a:srgbClr val="0F172A"/>
                </a:solidFill>
              </a:rPr>
              <a:t>⚙️  Lập Trình Socket Từ Số 0
</a:t>
            </a:r>
            <a:pPr indent="0" marL="0">
              <a:buNone/>
            </a:pPr>
            <a:r>
              <a:rPr lang="en-US" sz="1220" dirty="0">
                <a:solidFill>
                  <a:srgbClr val="334155"/>
                </a:solidFill>
              </a:rPr>
              <a:t>Tự tay xây dựng kiến trúc TCP Socket không phụ thuộc bất kỳ framework ngoài nào.</a:t>
            </a:r>
            <a:endParaRPr lang="en-US" sz="1400" dirty="0"/>
          </a:p>
        </p:txBody>
      </p:sp>
      <p:sp>
        <p:nvSpPr>
          <p:cNvPr id="18" name="Shape 16"/>
          <p:cNvSpPr/>
          <p:nvPr/>
        </p:nvSpPr>
        <p:spPr>
          <a:xfrm>
            <a:off x="731520" y="3593592"/>
            <a:ext cx="3145536" cy="1234440"/>
          </a:xfrm>
          <a:prstGeom prst="roundRect">
            <a:avLst>
              <a:gd name="adj" fmla="val 5926"/>
            </a:avLst>
          </a:prstGeom>
          <a:solidFill>
            <a:srgbClr val="F8FAFC"/>
          </a:solidFill>
          <a:ln w="12700">
            <a:solidFill>
              <a:srgbClr val="E2E8F0"/>
            </a:solidFill>
            <a:prstDash val="solid"/>
          </a:ln>
        </p:spPr>
      </p:sp>
      <p:sp>
        <p:nvSpPr>
          <p:cNvPr id="19" name="Text 17"/>
          <p:cNvSpPr/>
          <p:nvPr/>
        </p:nvSpPr>
        <p:spPr>
          <a:xfrm>
            <a:off x="822960" y="3685032"/>
            <a:ext cx="2962656" cy="1051560"/>
          </a:xfrm>
          <a:prstGeom prst="rect">
            <a:avLst/>
          </a:prstGeom>
          <a:noFill/>
          <a:ln/>
        </p:spPr>
        <p:txBody>
          <a:bodyPr wrap="square" rtlCol="0" anchor="t"/>
          <a:lstStyle/>
          <a:p>
            <a:pPr indent="0" marL="0">
              <a:buNone/>
            </a:pPr>
            <a:r>
              <a:rPr lang="en-US" sz="1400" b="1" dirty="0">
                <a:solidFill>
                  <a:srgbClr val="0F172A"/>
                </a:solidFill>
              </a:rPr>
              <a:t>🧠  Hiểu Bản Chất Phần Cứng
</a:t>
            </a:r>
            <a:pPr indent="0" marL="0">
              <a:buNone/>
            </a:pPr>
            <a:r>
              <a:rPr lang="en-US" sz="1220" dirty="0">
                <a:solidFill>
                  <a:srgbClr val="334155"/>
                </a:solidFill>
              </a:rPr>
              <a:t>Làm chủ chi phí Stack RAM 1MB, hàng đợi TCP Backlog và tổn hao chuyển ngữ cảnh CPU.</a:t>
            </a:r>
            <a:endParaRPr lang="en-US" sz="1400" dirty="0"/>
          </a:p>
        </p:txBody>
      </p:sp>
      <p:sp>
        <p:nvSpPr>
          <p:cNvPr id="20" name="Shape 18"/>
          <p:cNvSpPr/>
          <p:nvPr/>
        </p:nvSpPr>
        <p:spPr>
          <a:xfrm>
            <a:off x="731520" y="5084064"/>
            <a:ext cx="3145536" cy="365760"/>
          </a:xfrm>
          <a:prstGeom prst="roundRect">
            <a:avLst>
              <a:gd name="adj" fmla="val 20000"/>
            </a:avLst>
          </a:prstGeom>
          <a:solidFill>
            <a:srgbClr val="EFF6FF"/>
          </a:solidFill>
          <a:ln w="12700">
            <a:solidFill>
              <a:srgbClr val="BFDBFE"/>
            </a:solidFill>
            <a:prstDash val="solid"/>
          </a:ln>
        </p:spPr>
      </p:sp>
      <p:sp>
        <p:nvSpPr>
          <p:cNvPr id="21" name="Text 19"/>
          <p:cNvSpPr/>
          <p:nvPr/>
        </p:nvSpPr>
        <p:spPr>
          <a:xfrm>
            <a:off x="822960" y="5084064"/>
            <a:ext cx="2962656" cy="365760"/>
          </a:xfrm>
          <a:prstGeom prst="rect">
            <a:avLst/>
          </a:prstGeom>
          <a:noFill/>
          <a:ln/>
        </p:spPr>
        <p:txBody>
          <a:bodyPr wrap="square" rtlCol="0" anchor="ctr"/>
          <a:lstStyle/>
          <a:p>
            <a:pPr indent="0" marL="0">
              <a:buNone/>
            </a:pPr>
            <a:r>
              <a:rPr lang="en-US" sz="1150" b="1" dirty="0">
                <a:solidFill>
                  <a:srgbClr val="1D4ED8"/>
                </a:solidFill>
                <a:latin typeface="Arial" pitchFamily="34" charset="0"/>
                <a:ea typeface="Arial" pitchFamily="34" charset="-122"/>
                <a:cs typeface="Arial" pitchFamily="34" charset="-120"/>
              </a:rPr>
              <a:t>💡 Nền tảng: Nắm chắc bản chất vật lý cốt lõi</a:t>
            </a:r>
            <a:endParaRPr lang="en-US" sz="1150" dirty="0"/>
          </a:p>
        </p:txBody>
      </p:sp>
      <p:sp>
        <p:nvSpPr>
          <p:cNvPr id="22" name="Shape 20"/>
          <p:cNvSpPr/>
          <p:nvPr/>
        </p:nvSpPr>
        <p:spPr>
          <a:xfrm>
            <a:off x="4334256" y="1536192"/>
            <a:ext cx="3511296" cy="4023360"/>
          </a:xfrm>
          <a:prstGeom prst="roundRect">
            <a:avLst>
              <a:gd name="adj" fmla="val 2604"/>
            </a:avLst>
          </a:prstGeom>
          <a:solidFill>
            <a:srgbClr val="FFFFFF"/>
          </a:solidFill>
          <a:ln w="19050">
            <a:solidFill>
              <a:srgbClr val="7C3AED"/>
            </a:solidFill>
            <a:prstDash val="solid"/>
          </a:ln>
        </p:spPr>
      </p:sp>
      <p:sp>
        <p:nvSpPr>
          <p:cNvPr id="23" name="Shape 21"/>
          <p:cNvSpPr/>
          <p:nvPr/>
        </p:nvSpPr>
        <p:spPr>
          <a:xfrm>
            <a:off x="4334256" y="1536192"/>
            <a:ext cx="3511296" cy="73152"/>
          </a:xfrm>
          <a:prstGeom prst="roundRect">
            <a:avLst/>
          </a:prstGeom>
          <a:solidFill>
            <a:srgbClr val="7C3AED"/>
          </a:solidFill>
          <a:ln/>
        </p:spPr>
      </p:sp>
      <p:sp>
        <p:nvSpPr>
          <p:cNvPr id="24" name="Text 22"/>
          <p:cNvSpPr/>
          <p:nvPr/>
        </p:nvSpPr>
        <p:spPr>
          <a:xfrm>
            <a:off x="4517136" y="1673352"/>
            <a:ext cx="2048256"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Tự Chủ Công Nghệ</a:t>
            </a:r>
            <a:endParaRPr lang="en-US" sz="1400" dirty="0"/>
          </a:p>
        </p:txBody>
      </p:sp>
      <p:sp>
        <p:nvSpPr>
          <p:cNvPr id="25" name="Shape 23"/>
          <p:cNvSpPr/>
          <p:nvPr/>
        </p:nvSpPr>
        <p:spPr>
          <a:xfrm>
            <a:off x="6519672" y="1700784"/>
            <a:ext cx="1188720" cy="237744"/>
          </a:xfrm>
          <a:prstGeom prst="roundRect">
            <a:avLst>
              <a:gd name="adj" fmla="val 30769"/>
            </a:avLst>
          </a:prstGeom>
          <a:solidFill>
            <a:srgbClr val="FAF5FF"/>
          </a:solidFill>
          <a:ln w="12700">
            <a:solidFill>
              <a:srgbClr val="DDD6FE"/>
            </a:solidFill>
            <a:prstDash val="solid"/>
          </a:ln>
        </p:spPr>
      </p:sp>
      <p:sp>
        <p:nvSpPr>
          <p:cNvPr id="26" name="Text 24"/>
          <p:cNvSpPr/>
          <p:nvPr/>
        </p:nvSpPr>
        <p:spPr>
          <a:xfrm>
            <a:off x="6519672" y="1700784"/>
            <a:ext cx="1188720" cy="237744"/>
          </a:xfrm>
          <a:prstGeom prst="rect">
            <a:avLst/>
          </a:prstGeom>
          <a:noFill/>
          <a:ln/>
        </p:spPr>
        <p:txBody>
          <a:bodyPr wrap="square" rtlCol="0" anchor="ctr"/>
          <a:lstStyle/>
          <a:p>
            <a:pPr algn="ctr" indent="0" marL="0">
              <a:buNone/>
            </a:pPr>
            <a:r>
              <a:rPr lang="en-US" sz="1150" b="1" dirty="0">
                <a:solidFill>
                  <a:srgbClr val="7C3AED"/>
                </a:solidFill>
                <a:latin typeface="Arial" pitchFamily="34" charset="0"/>
                <a:ea typeface="Arial" pitchFamily="34" charset="-122"/>
                <a:cs typeface="Arial" pitchFamily="34" charset="-120"/>
              </a:rPr>
              <a:t>ĐIỂM SÁNG 30%</a:t>
            </a:r>
            <a:endParaRPr lang="en-US" sz="1150" dirty="0"/>
          </a:p>
        </p:txBody>
      </p:sp>
      <p:sp>
        <p:nvSpPr>
          <p:cNvPr id="27" name="Shape 25"/>
          <p:cNvSpPr/>
          <p:nvPr/>
        </p:nvSpPr>
        <p:spPr>
          <a:xfrm>
            <a:off x="4517136" y="2221992"/>
            <a:ext cx="3145536" cy="1234440"/>
          </a:xfrm>
          <a:prstGeom prst="roundRect">
            <a:avLst>
              <a:gd name="adj" fmla="val 5926"/>
            </a:avLst>
          </a:prstGeom>
          <a:solidFill>
            <a:srgbClr val="F8FAFC"/>
          </a:solidFill>
          <a:ln w="12700">
            <a:solidFill>
              <a:srgbClr val="E2E8F0"/>
            </a:solidFill>
            <a:prstDash val="solid"/>
          </a:ln>
        </p:spPr>
      </p:sp>
      <p:sp>
        <p:nvSpPr>
          <p:cNvPr id="28" name="Text 26"/>
          <p:cNvSpPr/>
          <p:nvPr/>
        </p:nvSpPr>
        <p:spPr>
          <a:xfrm>
            <a:off x="4608576" y="2313432"/>
            <a:ext cx="2962656" cy="1051560"/>
          </a:xfrm>
          <a:prstGeom prst="rect">
            <a:avLst/>
          </a:prstGeom>
          <a:noFill/>
          <a:ln/>
        </p:spPr>
        <p:txBody>
          <a:bodyPr wrap="square" rtlCol="0" anchor="t"/>
          <a:lstStyle/>
          <a:p>
            <a:pPr indent="0" marL="0">
              <a:buNone/>
            </a:pPr>
            <a:r>
              <a:rPr lang="en-US" sz="1400" b="1" dirty="0">
                <a:solidFill>
                  <a:srgbClr val="0F172A"/>
                </a:solidFill>
              </a:rPr>
              <a:t>🍣  Băng Chuyền O(1) Tự Viết
</a:t>
            </a:r>
            <a:pPr indent="0" marL="0">
              <a:buNone/>
            </a:pPr>
            <a:r>
              <a:rPr lang="en-US" sz="1220" dirty="0">
                <a:solidFill>
                  <a:srgbClr val="334155"/>
                </a:solidFill>
              </a:rPr>
              <a:t>Tự lập trình giải thuật mảng vòng Circular Buffer và cơ chế ngủ đông luồng độc lập.</a:t>
            </a:r>
            <a:endParaRPr lang="en-US" sz="1400" dirty="0"/>
          </a:p>
        </p:txBody>
      </p:sp>
      <p:sp>
        <p:nvSpPr>
          <p:cNvPr id="29" name="Shape 27"/>
          <p:cNvSpPr/>
          <p:nvPr/>
        </p:nvSpPr>
        <p:spPr>
          <a:xfrm>
            <a:off x="4517136" y="3593592"/>
            <a:ext cx="3145536" cy="1234440"/>
          </a:xfrm>
          <a:prstGeom prst="roundRect">
            <a:avLst>
              <a:gd name="adj" fmla="val 5926"/>
            </a:avLst>
          </a:prstGeom>
          <a:solidFill>
            <a:srgbClr val="F8FAFC"/>
          </a:solidFill>
          <a:ln w="12700">
            <a:solidFill>
              <a:srgbClr val="E2E8F0"/>
            </a:solidFill>
            <a:prstDash val="solid"/>
          </a:ln>
        </p:spPr>
      </p:sp>
      <p:sp>
        <p:nvSpPr>
          <p:cNvPr id="30" name="Text 28"/>
          <p:cNvSpPr/>
          <p:nvPr/>
        </p:nvSpPr>
        <p:spPr>
          <a:xfrm>
            <a:off x="4608576" y="3685032"/>
            <a:ext cx="2962656" cy="1051560"/>
          </a:xfrm>
          <a:prstGeom prst="rect">
            <a:avLst/>
          </a:prstGeom>
          <a:noFill/>
          <a:ln/>
        </p:spPr>
        <p:txBody>
          <a:bodyPr wrap="square" rtlCol="0" anchor="t"/>
          <a:lstStyle/>
          <a:p>
            <a:pPr indent="0" marL="0">
              <a:buNone/>
            </a:pPr>
            <a:r>
              <a:rPr lang="en-US" sz="1400" b="1" dirty="0">
                <a:solidFill>
                  <a:srgbClr val="0F172A"/>
                </a:solidFill>
              </a:rPr>
              <a:t>🖥️  Web Dashboard Canvas 60fps
</a:t>
            </a:r>
            <a:pPr indent="0" marL="0">
              <a:buNone/>
            </a:pPr>
            <a:r>
              <a:rPr lang="en-US" sz="1220" dirty="0">
                <a:solidFill>
                  <a:srgbClr val="334155"/>
                </a:solidFill>
              </a:rPr>
              <a:t>Tự xây dựng trọn gói giao diện điều khiển thời gian thực và công cụ bắn tải đa luồng.</a:t>
            </a:r>
            <a:endParaRPr lang="en-US" sz="1400" dirty="0"/>
          </a:p>
        </p:txBody>
      </p:sp>
      <p:sp>
        <p:nvSpPr>
          <p:cNvPr id="31" name="Shape 29"/>
          <p:cNvSpPr/>
          <p:nvPr/>
        </p:nvSpPr>
        <p:spPr>
          <a:xfrm>
            <a:off x="4517136" y="5084064"/>
            <a:ext cx="3145536" cy="365760"/>
          </a:xfrm>
          <a:prstGeom prst="roundRect">
            <a:avLst>
              <a:gd name="adj" fmla="val 20000"/>
            </a:avLst>
          </a:prstGeom>
          <a:solidFill>
            <a:srgbClr val="FAF5FF"/>
          </a:solidFill>
          <a:ln w="12700">
            <a:solidFill>
              <a:srgbClr val="DDD6FE"/>
            </a:solidFill>
            <a:prstDash val="solid"/>
          </a:ln>
        </p:spPr>
      </p:sp>
      <p:sp>
        <p:nvSpPr>
          <p:cNvPr id="32" name="Text 30"/>
          <p:cNvSpPr/>
          <p:nvPr/>
        </p:nvSpPr>
        <p:spPr>
          <a:xfrm>
            <a:off x="4608576" y="5084064"/>
            <a:ext cx="2962656" cy="365760"/>
          </a:xfrm>
          <a:prstGeom prst="rect">
            <a:avLst/>
          </a:prstGeom>
          <a:noFill/>
          <a:ln/>
        </p:spPr>
        <p:txBody>
          <a:bodyPr wrap="square" rtlCol="0" anchor="ctr"/>
          <a:lstStyle/>
          <a:p>
            <a:pPr indent="0" marL="0">
              <a:buNone/>
            </a:pPr>
            <a:r>
              <a:rPr lang="en-US" sz="1150" b="1" dirty="0">
                <a:solidFill>
                  <a:srgbClr val="7C3AED"/>
                </a:solidFill>
                <a:latin typeface="Arial" pitchFamily="34" charset="0"/>
                <a:ea typeface="Arial" pitchFamily="34" charset="-122"/>
                <a:cs typeface="Arial" pitchFamily="34" charset="-120"/>
              </a:rPr>
              <a:t>✨ Tự lực: Khẳng định năng lực làm chủ giải thuật</a:t>
            </a:r>
            <a:endParaRPr lang="en-US" sz="1150" dirty="0"/>
          </a:p>
        </p:txBody>
      </p:sp>
      <p:sp>
        <p:nvSpPr>
          <p:cNvPr id="33" name="Shape 31"/>
          <p:cNvSpPr/>
          <p:nvPr/>
        </p:nvSpPr>
        <p:spPr>
          <a:xfrm>
            <a:off x="8119872" y="1536192"/>
            <a:ext cx="3511296" cy="4023360"/>
          </a:xfrm>
          <a:prstGeom prst="roundRect">
            <a:avLst>
              <a:gd name="adj" fmla="val 2604"/>
            </a:avLst>
          </a:prstGeom>
          <a:solidFill>
            <a:srgbClr val="FFFFFF"/>
          </a:solidFill>
          <a:ln w="19050">
            <a:solidFill>
              <a:srgbClr val="059669"/>
            </a:solidFill>
            <a:prstDash val="solid"/>
          </a:ln>
        </p:spPr>
      </p:sp>
      <p:sp>
        <p:nvSpPr>
          <p:cNvPr id="34" name="Shape 32"/>
          <p:cNvSpPr/>
          <p:nvPr/>
        </p:nvSpPr>
        <p:spPr>
          <a:xfrm>
            <a:off x="8119872" y="1536192"/>
            <a:ext cx="3511296" cy="73152"/>
          </a:xfrm>
          <a:prstGeom prst="roundRect">
            <a:avLst/>
          </a:prstGeom>
          <a:solidFill>
            <a:srgbClr val="059669"/>
          </a:solidFill>
          <a:ln/>
        </p:spPr>
      </p:sp>
      <p:sp>
        <p:nvSpPr>
          <p:cNvPr id="35" name="Text 33"/>
          <p:cNvSpPr/>
          <p:nvPr/>
        </p:nvSpPr>
        <p:spPr>
          <a:xfrm>
            <a:off x="8302752" y="1673352"/>
            <a:ext cx="2048256"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Hiện Đại Hóa Kiến Trúc</a:t>
            </a:r>
            <a:endParaRPr lang="en-US" sz="1400" dirty="0"/>
          </a:p>
        </p:txBody>
      </p:sp>
      <p:sp>
        <p:nvSpPr>
          <p:cNvPr id="36" name="Shape 34"/>
          <p:cNvSpPr/>
          <p:nvPr/>
        </p:nvSpPr>
        <p:spPr>
          <a:xfrm>
            <a:off x="10305288" y="1700784"/>
            <a:ext cx="1188720" cy="237744"/>
          </a:xfrm>
          <a:prstGeom prst="roundRect">
            <a:avLst>
              <a:gd name="adj" fmla="val 30769"/>
            </a:avLst>
          </a:prstGeom>
          <a:solidFill>
            <a:srgbClr val="ECFDF5"/>
          </a:solidFill>
          <a:ln w="12700">
            <a:solidFill>
              <a:srgbClr val="A7F3D0"/>
            </a:solidFill>
            <a:prstDash val="solid"/>
          </a:ln>
        </p:spPr>
      </p:sp>
      <p:sp>
        <p:nvSpPr>
          <p:cNvPr id="37" name="Text 35"/>
          <p:cNvSpPr/>
          <p:nvPr/>
        </p:nvSpPr>
        <p:spPr>
          <a:xfrm>
            <a:off x="10305288" y="1700784"/>
            <a:ext cx="1188720" cy="237744"/>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JAVA 21 LOOM</a:t>
            </a:r>
            <a:endParaRPr lang="en-US" sz="1150" dirty="0"/>
          </a:p>
        </p:txBody>
      </p:sp>
      <p:sp>
        <p:nvSpPr>
          <p:cNvPr id="38" name="Shape 36"/>
          <p:cNvSpPr/>
          <p:nvPr/>
        </p:nvSpPr>
        <p:spPr>
          <a:xfrm>
            <a:off x="8302752" y="2221992"/>
            <a:ext cx="3145536" cy="1234440"/>
          </a:xfrm>
          <a:prstGeom prst="roundRect">
            <a:avLst>
              <a:gd name="adj" fmla="val 5926"/>
            </a:avLst>
          </a:prstGeom>
          <a:solidFill>
            <a:srgbClr val="F8FAFC"/>
          </a:solidFill>
          <a:ln w="12700">
            <a:solidFill>
              <a:srgbClr val="E2E8F0"/>
            </a:solidFill>
            <a:prstDash val="solid"/>
          </a:ln>
        </p:spPr>
      </p:sp>
      <p:sp>
        <p:nvSpPr>
          <p:cNvPr id="39" name="Text 37"/>
          <p:cNvSpPr/>
          <p:nvPr/>
        </p:nvSpPr>
        <p:spPr>
          <a:xfrm>
            <a:off x="8394192" y="2313432"/>
            <a:ext cx="2962656" cy="1051560"/>
          </a:xfrm>
          <a:prstGeom prst="rect">
            <a:avLst/>
          </a:prstGeom>
          <a:noFill/>
          <a:ln/>
        </p:spPr>
        <p:txBody>
          <a:bodyPr wrap="square" rtlCol="0" anchor="t"/>
          <a:lstStyle/>
          <a:p>
            <a:pPr indent="0" marL="0">
              <a:buNone/>
            </a:pPr>
            <a:r>
              <a:rPr lang="en-US" sz="1400" b="1" dirty="0">
                <a:solidFill>
                  <a:srgbClr val="0F172A"/>
                </a:solidFill>
              </a:rPr>
              <a:t>🚀  Vượt Thách Thức C10K
</a:t>
            </a:r>
            <a:pPr indent="0" marL="0">
              <a:buNone/>
            </a:pPr>
            <a:r>
              <a:rPr lang="en-US" sz="1220" dirty="0">
                <a:solidFill>
                  <a:srgbClr val="334155"/>
                </a:solidFill>
              </a:rPr>
              <a:t>Phục vụ hàng chục ngàn kết nối với kỷ lục 1,145+ RPS trên máy tính cá nhân.</a:t>
            </a:r>
            <a:endParaRPr lang="en-US" sz="1400" dirty="0"/>
          </a:p>
        </p:txBody>
      </p:sp>
      <p:sp>
        <p:nvSpPr>
          <p:cNvPr id="40" name="Shape 38"/>
          <p:cNvSpPr/>
          <p:nvPr/>
        </p:nvSpPr>
        <p:spPr>
          <a:xfrm>
            <a:off x="8302752" y="3593592"/>
            <a:ext cx="3145536" cy="1234440"/>
          </a:xfrm>
          <a:prstGeom prst="roundRect">
            <a:avLst>
              <a:gd name="adj" fmla="val 5926"/>
            </a:avLst>
          </a:prstGeom>
          <a:solidFill>
            <a:srgbClr val="F8FAFC"/>
          </a:solidFill>
          <a:ln w="12700">
            <a:solidFill>
              <a:srgbClr val="E2E8F0"/>
            </a:solidFill>
            <a:prstDash val="solid"/>
          </a:ln>
        </p:spPr>
      </p:sp>
      <p:sp>
        <p:nvSpPr>
          <p:cNvPr id="41" name="Text 39"/>
          <p:cNvSpPr/>
          <p:nvPr/>
        </p:nvSpPr>
        <p:spPr>
          <a:xfrm>
            <a:off x="8394192" y="3685032"/>
            <a:ext cx="2962656" cy="1051560"/>
          </a:xfrm>
          <a:prstGeom prst="rect">
            <a:avLst/>
          </a:prstGeom>
          <a:noFill/>
          <a:ln/>
        </p:spPr>
        <p:txBody>
          <a:bodyPr wrap="square" rtlCol="0" anchor="t"/>
          <a:lstStyle/>
          <a:p>
            <a:pPr indent="0" marL="0">
              <a:buNone/>
            </a:pPr>
            <a:r>
              <a:rPr lang="en-US" sz="1400" b="1" dirty="0">
                <a:solidFill>
                  <a:srgbClr val="0F172A"/>
                </a:solidFill>
              </a:rPr>
              <a:t>💎  Code Đơn Giản, Tốc Độ Khủng
</a:t>
            </a:r>
            <a:pPr indent="0" marL="0">
              <a:buNone/>
            </a:pPr>
            <a:r>
              <a:rPr lang="en-US" sz="1220" dirty="0">
                <a:solidFill>
                  <a:srgbClr val="334155"/>
                </a:solidFill>
              </a:rPr>
              <a:t>Giữ trọn phong cách code tuần tự dễ bảo trì nhưng đạt hiệu năng phi đồng bộ tối tân.</a:t>
            </a:r>
            <a:endParaRPr lang="en-US" sz="1400" dirty="0"/>
          </a:p>
        </p:txBody>
      </p:sp>
      <p:sp>
        <p:nvSpPr>
          <p:cNvPr id="42" name="Shape 40"/>
          <p:cNvSpPr/>
          <p:nvPr/>
        </p:nvSpPr>
        <p:spPr>
          <a:xfrm>
            <a:off x="8302752" y="5084064"/>
            <a:ext cx="3145536" cy="365760"/>
          </a:xfrm>
          <a:prstGeom prst="roundRect">
            <a:avLst>
              <a:gd name="adj" fmla="val 20000"/>
            </a:avLst>
          </a:prstGeom>
          <a:solidFill>
            <a:srgbClr val="ECFDF5"/>
          </a:solidFill>
          <a:ln w="12700">
            <a:solidFill>
              <a:srgbClr val="A7F3D0"/>
            </a:solidFill>
            <a:prstDash val="solid"/>
          </a:ln>
        </p:spPr>
      </p:sp>
      <p:sp>
        <p:nvSpPr>
          <p:cNvPr id="43" name="Text 41"/>
          <p:cNvSpPr/>
          <p:nvPr/>
        </p:nvSpPr>
        <p:spPr>
          <a:xfrm>
            <a:off x="8394192" y="5084064"/>
            <a:ext cx="2962656" cy="365760"/>
          </a:xfrm>
          <a:prstGeom prst="rect">
            <a:avLst/>
          </a:prstGeom>
          <a:noFill/>
          <a:ln/>
        </p:spPr>
        <p:txBody>
          <a:bodyPr wrap="square" rtlCol="0" anchor="ctr"/>
          <a:lstStyle/>
          <a:p>
            <a:pPr indent="0" marL="0">
              <a:buNone/>
            </a:pPr>
            <a:r>
              <a:rPr lang="en-US" sz="1150" b="1" dirty="0">
                <a:solidFill>
                  <a:srgbClr val="059669"/>
                </a:solidFill>
                <a:latin typeface="Arial" pitchFamily="34" charset="0"/>
                <a:ea typeface="Arial" pitchFamily="34" charset="-122"/>
                <a:cs typeface="Arial" pitchFamily="34" charset="-120"/>
              </a:rPr>
              <a:t>👑 Tầm nhìn: Sẵn sàng áp dụng cho Backend lớn</a:t>
            </a:r>
            <a:endParaRPr lang="en-US" sz="1150" dirty="0"/>
          </a:p>
        </p:txBody>
      </p:sp>
      <p:sp>
        <p:nvSpPr>
          <p:cNvPr id="44" name="Shape 42"/>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5" name="Shape 43"/>
          <p:cNvSpPr/>
          <p:nvPr/>
        </p:nvSpPr>
        <p:spPr>
          <a:xfrm>
            <a:off x="548640" y="5687568"/>
            <a:ext cx="109728" cy="658368"/>
          </a:xfrm>
          <a:prstGeom prst="rect">
            <a:avLst/>
          </a:prstGeom>
          <a:solidFill>
            <a:srgbClr val="1D4ED8"/>
          </a:solidFill>
          <a:ln/>
        </p:spPr>
      </p:sp>
      <p:sp>
        <p:nvSpPr>
          <p:cNvPr id="46" name="Text 44"/>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350" dirty="0">
                <a:solidFill>
                  <a:srgbClr val="0F172A"/>
                </a:solidFill>
                <a:latin typeface="Arial" pitchFamily="34" charset="0"/>
                <a:ea typeface="Arial" pitchFamily="34" charset="-122"/>
                <a:cs typeface="Arial" pitchFamily="34" charset="-120"/>
              </a:rPr>
              <a:t>🏆 KẾT LUẬN ĐỒ ÁN: Đề tài T45 đã hoàn thành xuất sắc mục tiêu: làm chủ từ Socket thô, sáng tạo giải thuật tự chế, đến đón đầu kỷ nguyên Java 21 Loom!</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889504" y="731520"/>
            <a:ext cx="6400800" cy="347472"/>
          </a:xfrm>
          <a:prstGeom prst="roundRect">
            <a:avLst>
              <a:gd name="adj" fmla="val 31579"/>
            </a:avLst>
          </a:prstGeom>
          <a:solidFill>
            <a:srgbClr val="ECFDF5"/>
          </a:solidFill>
          <a:ln w="19050">
            <a:solidFill>
              <a:srgbClr val="A7F3D0"/>
            </a:solidFill>
            <a:prstDash val="solid"/>
          </a:ln>
        </p:spPr>
      </p:sp>
      <p:sp>
        <p:nvSpPr>
          <p:cNvPr id="3" name="Text 1"/>
          <p:cNvSpPr/>
          <p:nvPr/>
        </p:nvSpPr>
        <p:spPr>
          <a:xfrm>
            <a:off x="2889504" y="731520"/>
            <a:ext cx="6400800" cy="347472"/>
          </a:xfrm>
          <a:prstGeom prst="rect">
            <a:avLst/>
          </a:prstGeom>
          <a:noFill/>
          <a:ln/>
        </p:spPr>
        <p:txBody>
          <a:bodyPr wrap="square" rtlCol="0" anchor="ctr"/>
          <a:lstStyle/>
          <a:p>
            <a:pPr algn="ctr" indent="0" marL="0">
              <a:buNone/>
            </a:pPr>
            <a:r>
              <a:rPr lang="en-US" sz="1100" b="1" dirty="0">
                <a:solidFill>
                  <a:srgbClr val="059669"/>
                </a:solidFill>
                <a:latin typeface="Arial" pitchFamily="34" charset="0"/>
                <a:ea typeface="Arial" pitchFamily="34" charset="-122"/>
                <a:cs typeface="Arial" pitchFamily="34" charset="-120"/>
              </a:rPr>
              <a:t>KẾT THÚC BÁO CÁO • SẴN SÀNG PHẢN BIỆN</a:t>
            </a:r>
            <a:endParaRPr lang="en-US" sz="1100" dirty="0"/>
          </a:p>
        </p:txBody>
      </p:sp>
      <p:sp>
        <p:nvSpPr>
          <p:cNvPr id="4" name="Text 2"/>
          <p:cNvSpPr/>
          <p:nvPr/>
        </p:nvSpPr>
        <p:spPr>
          <a:xfrm>
            <a:off x="1097280" y="1234440"/>
            <a:ext cx="9994392" cy="1371600"/>
          </a:xfrm>
          <a:prstGeom prst="rect">
            <a:avLst/>
          </a:prstGeom>
          <a:noFill/>
          <a:ln/>
        </p:spPr>
        <p:txBody>
          <a:bodyPr wrap="square" rtlCol="0" anchor="ctr"/>
          <a:lstStyle/>
          <a:p>
            <a:pPr algn="ctr" indent="0" marL="0">
              <a:buNone/>
            </a:pPr>
            <a:r>
              <a:rPr lang="en-US" sz="3200" b="1" dirty="0">
                <a:solidFill>
                  <a:srgbClr val="0F172A"/>
                </a:solidFill>
              </a:rPr>
              <a:t>XIN CHÂN THÀNH CẢM ƠN
</a:t>
            </a:r>
            <a:pPr algn="ctr" indent="0" marL="0">
              <a:buNone/>
            </a:pPr>
            <a:r>
              <a:rPr lang="en-US" sz="3200" b="1" dirty="0">
                <a:solidFill>
                  <a:srgbClr val="1D4ED8"/>
                </a:solidFill>
              </a:rPr>
              <a:t>THẦY ĐẶNG NGỌC HÙNG</a:t>
            </a:r>
            <a:endParaRPr lang="en-US" sz="3200" dirty="0"/>
          </a:p>
        </p:txBody>
      </p:sp>
      <p:sp>
        <p:nvSpPr>
          <p:cNvPr id="5" name="Text 3"/>
          <p:cNvSpPr/>
          <p:nvPr/>
        </p:nvSpPr>
        <p:spPr>
          <a:xfrm>
            <a:off x="1645920" y="2651760"/>
            <a:ext cx="8897112" cy="640080"/>
          </a:xfrm>
          <a:prstGeom prst="rect">
            <a:avLst/>
          </a:prstGeom>
          <a:noFill/>
          <a:ln/>
        </p:spPr>
        <p:txBody>
          <a:bodyPr wrap="square" rtlCol="0" anchor="t"/>
          <a:lstStyle/>
          <a:p>
            <a:pPr algn="ctr" indent="0" marL="0">
              <a:buNone/>
            </a:pPr>
            <a:r>
              <a:rPr lang="en-US" sz="1250" b="1" dirty="0">
                <a:solidFill>
                  <a:srgbClr val="334155"/>
                </a:solidFill>
                <a:latin typeface="Arial" pitchFamily="34" charset="0"/>
                <a:ea typeface="Arial" pitchFamily="34" charset="-122"/>
                <a:cs typeface="Arial" pitchFamily="34" charset="-120"/>
              </a:rPr>
              <a:t>Em xin chân thành cảm ơn Thầy đã tận tình hướng dẫn, truyền đạt kiến thức nền tảng vững chắc và định hướng tư duy giải quyết vấn đề xuyên suốt học phần Lập Trình Mạng.</a:t>
            </a:r>
            <a:endParaRPr lang="en-US" sz="1250" dirty="0"/>
          </a:p>
        </p:txBody>
      </p:sp>
      <p:sp>
        <p:nvSpPr>
          <p:cNvPr id="6" name="Shape 4"/>
          <p:cNvSpPr/>
          <p:nvPr/>
        </p:nvSpPr>
        <p:spPr>
          <a:xfrm>
            <a:off x="548640" y="3566160"/>
            <a:ext cx="3474720" cy="1371600"/>
          </a:xfrm>
          <a:prstGeom prst="roundRect">
            <a:avLst>
              <a:gd name="adj" fmla="val 6667"/>
            </a:avLst>
          </a:prstGeom>
          <a:solidFill>
            <a:srgbClr val="F8FAFC"/>
          </a:solidFill>
          <a:ln w="19050">
            <a:solidFill>
              <a:srgbClr val="CBD5E1"/>
            </a:solidFill>
            <a:prstDash val="solid"/>
          </a:ln>
        </p:spPr>
      </p:sp>
      <p:sp>
        <p:nvSpPr>
          <p:cNvPr id="7" name="Text 5"/>
          <p:cNvSpPr/>
          <p:nvPr/>
        </p:nvSpPr>
        <p:spPr>
          <a:xfrm>
            <a:off x="731520" y="3703320"/>
            <a:ext cx="3108960" cy="1097280"/>
          </a:xfrm>
          <a:prstGeom prst="rect">
            <a:avLst/>
          </a:prstGeom>
          <a:noFill/>
          <a:ln/>
        </p:spPr>
        <p:txBody>
          <a:bodyPr wrap="square" rtlCol="0" anchor="ctr"/>
          <a:lstStyle/>
          <a:p>
            <a:pPr algn="ctr" indent="0" marL="0">
              <a:buNone/>
            </a:pPr>
            <a:r>
              <a:rPr lang="en-US" sz="1400" b="1" dirty="0">
                <a:solidFill>
                  <a:srgbClr val="0F172A"/>
                </a:solidFill>
              </a:rPr>
              <a:t>🏆  5/5 Mô Hình Đối Đầu
</a:t>
            </a:r>
            <a:pPr algn="ctr" indent="0" marL="0">
              <a:buNone/>
            </a:pPr>
            <a:r>
              <a:rPr lang="en-US" sz="1200" b="1" dirty="0">
                <a:solidFill>
                  <a:srgbClr val="334155"/>
                </a:solidFill>
              </a:rPr>
              <a:t>Cài đặt từ Socket thô, không dùng framework ngoài</a:t>
            </a:r>
            <a:endParaRPr lang="en-US" sz="1400" dirty="0"/>
          </a:p>
        </p:txBody>
      </p:sp>
      <p:sp>
        <p:nvSpPr>
          <p:cNvPr id="8" name="Shape 6"/>
          <p:cNvSpPr/>
          <p:nvPr/>
        </p:nvSpPr>
        <p:spPr>
          <a:xfrm>
            <a:off x="4352544" y="3566160"/>
            <a:ext cx="3474720" cy="1371600"/>
          </a:xfrm>
          <a:prstGeom prst="roundRect">
            <a:avLst>
              <a:gd name="adj" fmla="val 6667"/>
            </a:avLst>
          </a:prstGeom>
          <a:solidFill>
            <a:srgbClr val="F8FAFC"/>
          </a:solidFill>
          <a:ln w="19050">
            <a:solidFill>
              <a:srgbClr val="CBD5E1"/>
            </a:solidFill>
            <a:prstDash val="solid"/>
          </a:ln>
        </p:spPr>
      </p:sp>
      <p:sp>
        <p:nvSpPr>
          <p:cNvPr id="9" name="Text 7"/>
          <p:cNvSpPr/>
          <p:nvPr/>
        </p:nvSpPr>
        <p:spPr>
          <a:xfrm>
            <a:off x="4535424" y="3703320"/>
            <a:ext cx="3108960" cy="1097280"/>
          </a:xfrm>
          <a:prstGeom prst="rect">
            <a:avLst/>
          </a:prstGeom>
          <a:noFill/>
          <a:ln/>
        </p:spPr>
        <p:txBody>
          <a:bodyPr wrap="square" rtlCol="0" anchor="ctr"/>
          <a:lstStyle/>
          <a:p>
            <a:pPr algn="ctr" indent="0" marL="0">
              <a:buNone/>
            </a:pPr>
            <a:r>
              <a:rPr lang="en-US" sz="1400" b="1" dirty="0">
                <a:solidFill>
                  <a:srgbClr val="0F172A"/>
                </a:solidFill>
              </a:rPr>
              <a:t>🍣  Điểm Sáng Tự Chủ 30%
</a:t>
            </a:r>
            <a:pPr algn="ctr" indent="0" marL="0">
              <a:buNone/>
            </a:pPr>
            <a:r>
              <a:rPr lang="en-US" sz="1200" b="1" dirty="0">
                <a:solidFill>
                  <a:srgbClr val="334155"/>
                </a:solidFill>
              </a:rPr>
              <a:t>Tự lập trình mảng vòng O(1) &amp; Thread Pool độc lập</a:t>
            </a:r>
            <a:endParaRPr lang="en-US" sz="1400" dirty="0"/>
          </a:p>
        </p:txBody>
      </p:sp>
      <p:sp>
        <p:nvSpPr>
          <p:cNvPr id="10" name="Shape 8"/>
          <p:cNvSpPr/>
          <p:nvPr/>
        </p:nvSpPr>
        <p:spPr>
          <a:xfrm>
            <a:off x="8156448" y="3566160"/>
            <a:ext cx="3474720" cy="1371600"/>
          </a:xfrm>
          <a:prstGeom prst="roundRect">
            <a:avLst>
              <a:gd name="adj" fmla="val 6667"/>
            </a:avLst>
          </a:prstGeom>
          <a:solidFill>
            <a:srgbClr val="F8FAFC"/>
          </a:solidFill>
          <a:ln w="19050">
            <a:solidFill>
              <a:srgbClr val="CBD5E1"/>
            </a:solidFill>
            <a:prstDash val="solid"/>
          </a:ln>
        </p:spPr>
      </p:sp>
      <p:sp>
        <p:nvSpPr>
          <p:cNvPr id="11" name="Text 9"/>
          <p:cNvSpPr/>
          <p:nvPr/>
        </p:nvSpPr>
        <p:spPr>
          <a:xfrm>
            <a:off x="8339328" y="3703320"/>
            <a:ext cx="3108960" cy="1097280"/>
          </a:xfrm>
          <a:prstGeom prst="rect">
            <a:avLst/>
          </a:prstGeom>
          <a:noFill/>
          <a:ln/>
        </p:spPr>
        <p:txBody>
          <a:bodyPr wrap="square" rtlCol="0" anchor="ctr"/>
          <a:lstStyle/>
          <a:p>
            <a:pPr algn="ctr" indent="0" marL="0">
              <a:buNone/>
            </a:pPr>
            <a:r>
              <a:rPr lang="en-US" sz="1400" b="1" dirty="0">
                <a:solidFill>
                  <a:srgbClr val="0F172A"/>
                </a:solidFill>
              </a:rPr>
              <a:t>🚀  Đỉnh Cao Java 21
</a:t>
            </a:r>
            <a:pPr algn="ctr" indent="0" marL="0">
              <a:buNone/>
            </a:pPr>
            <a:r>
              <a:rPr lang="en-US" sz="1200" b="1" dirty="0">
                <a:solidFill>
                  <a:srgbClr val="334155"/>
                </a:solidFill>
              </a:rPr>
              <a:t>Vượt thách thức C10K với 1,145+ RPS trên Virtual Threads</a:t>
            </a:r>
            <a:endParaRPr lang="en-US" sz="1400" dirty="0"/>
          </a:p>
        </p:txBody>
      </p:sp>
      <p:sp>
        <p:nvSpPr>
          <p:cNvPr id="12" name="Shape 10"/>
          <p:cNvSpPr/>
          <p:nvPr/>
        </p:nvSpPr>
        <p:spPr>
          <a:xfrm>
            <a:off x="1371600" y="6126480"/>
            <a:ext cx="9445752" cy="0"/>
          </a:xfrm>
          <a:prstGeom prst="line">
            <a:avLst/>
          </a:prstGeom>
          <a:noFill/>
          <a:ln w="12700">
            <a:solidFill>
              <a:srgbClr val="E2E8F0"/>
            </a:solidFill>
            <a:prstDash val="solid"/>
          </a:ln>
        </p:spPr>
      </p:sp>
      <p:sp>
        <p:nvSpPr>
          <p:cNvPr id="13" name="Text 11"/>
          <p:cNvSpPr/>
          <p:nvPr/>
        </p:nvSpPr>
        <p:spPr>
          <a:xfrm>
            <a:off x="1371600" y="6217920"/>
            <a:ext cx="9445752" cy="320040"/>
          </a:xfrm>
          <a:prstGeom prst="rect">
            <a:avLst/>
          </a:prstGeom>
          <a:noFill/>
          <a:ln/>
        </p:spPr>
        <p:txBody>
          <a:bodyPr wrap="square"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KÍNH CHÚC THẦY SỨC KHỎE VÀ THÀNH CÔNG • EM XIN SẴN SÀNG LẮNG NGHE CÂU HỎI PHẢN BIỆN!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Học Viện Công Nghệ Bưu Chính Viễn Thông (PTIT)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T45: Multi-Threading Patterns in Network Programming</dc:title>
  <dc:subject>Báo Cáo Nghiên Cứu &amp; Đánh Giá 5 Kiến Trúc Luồng Mạng với Java 21 Virtual Threads</dc:subject>
  <dc:creator>Mai Đức Vinh</dc:creator>
  <cp:lastModifiedBy>Mai Đức Vinh</cp:lastModifiedBy>
  <cp:revision>1</cp:revision>
  <dcterms:created xsi:type="dcterms:W3CDTF">2026-10-12T03:56:51Z</dcterms:created>
  <dcterms:modified xsi:type="dcterms:W3CDTF">2026-10-12T03:56:51Z</dcterms:modified>
</cp:coreProperties>
</file>